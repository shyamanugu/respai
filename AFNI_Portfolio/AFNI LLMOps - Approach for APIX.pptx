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97C1-6522-5E43-B3FD-65B50CDD4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F8DF4-1926-865D-C484-8C184D366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55708-119A-39C1-B99B-931AE6BA4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C498D-34CA-E281-2AEC-AD21FE3A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D80F2-154C-B52E-E415-1B789ACB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45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6E12-72DE-DCFB-2A9A-9FCB40681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DAC90-72DA-47AF-936F-E0DF32FA8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B5C06-7652-24A0-3AD3-CEFC02A4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F526D-2FB5-F49A-4E19-A294B534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742E2-4401-10A2-DF62-CB3555B8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06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24F13-3226-1519-E979-01175388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29017-F24E-DE69-9A13-6B9103502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84759-D3E5-04FE-CB26-CD7EE492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8F285-F8FD-443A-B362-2E047737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1292E-A68B-BEEE-833E-9425869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98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79C37-83C7-F4CA-4018-C7823E1D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4EE9E-D392-293A-751B-3F50914FD3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04D49-3181-FBB3-C3BE-78AC3B72B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01197-4B38-F62F-20D6-E2E8BD61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D5CEF-5F33-510A-BBDA-9BB41016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58373-1F30-0313-5841-4B959323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78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A172-7869-2121-B43E-2F53586EB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051FE-3AEE-FEC9-2632-80118343C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3ABBB-30AC-E3F5-AFA4-4E84C0CCA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22FFA-591E-D483-893B-539AC2EC7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B6343A-A05F-57A6-8308-0781D2519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E795F4-8257-2D0E-E6B3-FE0AAD48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89787-E6C1-3C12-6849-8C47D6A2D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08F5BF-D4CE-FDF7-9C11-C35553C0B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45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C7CED-3788-41AA-E038-EA27BD69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1EE13-6081-8324-C174-9A1916D74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F922E-9EBE-D34F-A1E4-ABD098657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3BA9-C4C8-C60A-B7B0-5C906494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4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57B620-229A-22DA-C6B6-9B8D7C881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59884-1C94-41F6-01CA-13CCD5F9C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805FB-56DB-7F29-20E3-7C15020F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39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2080-89ED-EE8A-35D0-9A8923D4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14B0F-6862-0105-56FF-FB041513F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E9494-631A-689B-57A4-571035145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0B5ED-FA9C-1261-3AA4-1BFB27C0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1E998-BFBF-EBF3-BA78-7CB65F3E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D4306-C698-EE2A-A5C8-840C260B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311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E835-E32D-704B-318F-E23B4F785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BEFE14-70B5-71AB-4AFC-84F54797930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07FB2-F57D-2648-2700-C22C35A71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7F5F0-FC63-848A-1B2D-9D1BA02E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6527E-F8EE-844C-60E5-42F90C3DB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205AC-257C-7428-3F53-8BDF0285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67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095C0-6EFA-7CF2-6D62-931C4133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ED64F-CADA-29A7-BC4C-CFA9D706B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5DA51-FB2B-17C7-A0A3-0A7AC34C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5AD26-5CA0-3135-A30E-4165FF90B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B3B65-B226-AE53-A09A-84A126CA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7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37A883-897B-DAFD-1645-03EE2CD9C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A4102-4333-DF78-2393-0FFC7604D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1DF50-321F-8274-76AD-9D488B2D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6ED38-71F0-D5D8-611B-1ED43DA74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82FCC-BE8D-A9DE-9DD5-B23A42FA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71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49CDE4-7DC3-B3B2-FA00-29A6E365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216F1-B62D-25BE-E8A2-33861765E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EC895-38D3-F3D1-B113-4543C90A5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A866B-55BA-4514-BDE2-B6DC7FF043B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61515-B53E-4C64-408B-4C5CB865F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BAD05-37E0-74F0-5D18-BDDED28E7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1FA45-8B99-4E8D-9FC7-C7E42C432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80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9543F6-D261-588D-1A43-C4196677B6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8341EF-839E-A951-5E30-322E26453E3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6456B18-6AA2-4A58-458B-28B62EC998EC}"/>
              </a:ext>
            </a:extLst>
          </p:cNvPr>
          <p:cNvSpPr/>
          <p:nvPr/>
        </p:nvSpPr>
        <p:spPr>
          <a:xfrm>
            <a:off x="9271000" y="3937000"/>
            <a:ext cx="4572000" cy="4572000"/>
          </a:xfrm>
          <a:prstGeom prst="ellipse">
            <a:avLst/>
          </a:prstGeom>
          <a:solidFill>
            <a:srgbClr val="1C37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78433-90F8-99D2-A43A-00E3369FE03A}"/>
              </a:ext>
            </a:extLst>
          </p:cNvPr>
          <p:cNvSpPr txBox="1"/>
          <p:nvPr/>
        </p:nvSpPr>
        <p:spPr>
          <a:xfrm>
            <a:off x="889000" y="1879600"/>
            <a:ext cx="9906000" cy="70275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4400" b="1">
                <a:solidFill>
                  <a:srgbClr val="FFFFFF"/>
                </a:solidFill>
                <a:latin typeface="Segoe UI" panose="020B0502040204020203" pitchFamily="34" charset="0"/>
              </a:rPr>
              <a:t>LLMOps Approach for APIX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9794E-8194-6675-1C65-282463BE0A7D}"/>
              </a:ext>
            </a:extLst>
          </p:cNvPr>
          <p:cNvSpPr txBox="1"/>
          <p:nvPr/>
        </p:nvSpPr>
        <p:spPr>
          <a:xfrm>
            <a:off x="914400" y="3124200"/>
            <a:ext cx="92710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>
                <a:solidFill>
                  <a:srgbClr val="A5CDDA"/>
                </a:solidFill>
                <a:latin typeface="Segoe UI" panose="020B0502040204020203" pitchFamily="34" charset="0"/>
              </a:rPr>
              <a:t>Standardizing how we build and operate LLM applications,</a:t>
            </a:r>
          </a:p>
          <a:p>
            <a:r>
              <a:rPr lang="en-US">
                <a:solidFill>
                  <a:srgbClr val="A5CDDA"/>
                </a:solidFill>
                <a:latin typeface="Segoe UI" panose="020B0502040204020203" pitchFamily="34" charset="0"/>
              </a:rPr>
              <a:t>with APIX as the first enterprise use case</a:t>
            </a:r>
            <a:endParaRPr lang="en-IN">
              <a:solidFill>
                <a:srgbClr val="A5CDD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5FB2E-BFE7-B53A-863E-44D4A9984441}"/>
              </a:ext>
            </a:extLst>
          </p:cNvPr>
          <p:cNvSpPr/>
          <p:nvPr/>
        </p:nvSpPr>
        <p:spPr>
          <a:xfrm>
            <a:off x="939800" y="4089400"/>
            <a:ext cx="1651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EA1EC-4309-3080-DE70-9F0A04C8737B}"/>
              </a:ext>
            </a:extLst>
          </p:cNvPr>
          <p:cNvSpPr txBox="1"/>
          <p:nvPr/>
        </p:nvSpPr>
        <p:spPr>
          <a:xfrm>
            <a:off x="914400" y="4267200"/>
            <a:ext cx="9906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>
                <a:solidFill>
                  <a:srgbClr val="96AABE"/>
                </a:solidFill>
                <a:latin typeface="Segoe UI" panose="020B0502040204020203" pitchFamily="34" charset="0"/>
              </a:rPr>
              <a:t>Working review   .   2026-10-06</a:t>
            </a:r>
          </a:p>
        </p:txBody>
      </p:sp>
    </p:spTree>
    <p:extLst>
      <p:ext uri="{BB962C8B-B14F-4D97-AF65-F5344CB8AC3E}">
        <p14:creationId xmlns:p14="http://schemas.microsoft.com/office/powerpoint/2010/main" val="2458107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281A2A-7E2D-BD54-F5E1-A47E5DDCCB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0DD95-BE3B-5A9F-364B-8DAFA89A2E2B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9D733-05BB-BA30-1CAE-1890FD1278B9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15A08-A9FD-0168-F9A1-99DE3E4016E0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What we will cover today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EAFF30-4292-44B5-1F29-E9B32212824E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2AC625-690A-3D06-8AF4-F582AE423F8B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3853F2-C52E-C43A-5117-5475C5AC6334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B326A-9C32-357F-261D-597D971985AF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3BD7D7-7296-B737-F232-69B9012DA7FF}"/>
              </a:ext>
            </a:extLst>
          </p:cNvPr>
          <p:cNvSpPr/>
          <p:nvPr/>
        </p:nvSpPr>
        <p:spPr>
          <a:xfrm>
            <a:off x="609600" y="1066800"/>
            <a:ext cx="1097280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114741-9B73-CBDE-2A68-E754F22B951C}"/>
              </a:ext>
            </a:extLst>
          </p:cNvPr>
          <p:cNvSpPr/>
          <p:nvPr/>
        </p:nvSpPr>
        <p:spPr>
          <a:xfrm>
            <a:off x="609600" y="1168400"/>
            <a:ext cx="63500" cy="4826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AF8748-6966-FBBC-5D37-170C87FA46D4}"/>
              </a:ext>
            </a:extLst>
          </p:cNvPr>
          <p:cNvSpPr txBox="1"/>
          <p:nvPr/>
        </p:nvSpPr>
        <p:spPr>
          <a:xfrm>
            <a:off x="838200" y="1231900"/>
            <a:ext cx="5588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009EA8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3D985-1C9F-FCE5-1847-B0E0113A3BD4}"/>
              </a:ext>
            </a:extLst>
          </p:cNvPr>
          <p:cNvSpPr txBox="1"/>
          <p:nvPr/>
        </p:nvSpPr>
        <p:spPr>
          <a:xfrm>
            <a:off x="1524000" y="1155700"/>
            <a:ext cx="5334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22648"/>
                </a:solidFill>
                <a:latin typeface="Segoe UI" panose="020B0502040204020203" pitchFamily="34" charset="0"/>
              </a:rPr>
              <a:t>What LLMOps covers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B02F9A-9A46-B4D4-9FAC-60855394A4E0}"/>
              </a:ext>
            </a:extLst>
          </p:cNvPr>
          <p:cNvSpPr txBox="1"/>
          <p:nvPr/>
        </p:nvSpPr>
        <p:spPr>
          <a:xfrm>
            <a:off x="1524000" y="1435100"/>
            <a:ext cx="977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The 8 capabilities that wrap every LLM call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CD64DCD-69FA-033A-98D4-6122839DE3B0}"/>
              </a:ext>
            </a:extLst>
          </p:cNvPr>
          <p:cNvSpPr/>
          <p:nvPr/>
        </p:nvSpPr>
        <p:spPr>
          <a:xfrm>
            <a:off x="609600" y="1879600"/>
            <a:ext cx="1097280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BBDDE0-95F9-A157-B9D4-2B725C249E7E}"/>
              </a:ext>
            </a:extLst>
          </p:cNvPr>
          <p:cNvSpPr/>
          <p:nvPr/>
        </p:nvSpPr>
        <p:spPr>
          <a:xfrm>
            <a:off x="609600" y="1981200"/>
            <a:ext cx="63500" cy="4826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656D72-A876-7992-F4FE-1640FD439043}"/>
              </a:ext>
            </a:extLst>
          </p:cNvPr>
          <p:cNvSpPr txBox="1"/>
          <p:nvPr/>
        </p:nvSpPr>
        <p:spPr>
          <a:xfrm>
            <a:off x="838200" y="2044700"/>
            <a:ext cx="5588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009EA8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7B41E1-2030-3E2A-8D42-371E95AB62F7}"/>
              </a:ext>
            </a:extLst>
          </p:cNvPr>
          <p:cNvSpPr txBox="1"/>
          <p:nvPr/>
        </p:nvSpPr>
        <p:spPr>
          <a:xfrm>
            <a:off x="1524000" y="1968500"/>
            <a:ext cx="5334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500" b="1">
                <a:solidFill>
                  <a:srgbClr val="122648"/>
                </a:solidFill>
                <a:latin typeface="Segoe UI" panose="020B0502040204020203" pitchFamily="34" charset="0"/>
              </a:rPr>
              <a:t>Why it matters for APIX</a:t>
            </a:r>
            <a:endParaRPr lang="en-IN" sz="15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95BC7-DA20-56C6-9C22-03B6C112B969}"/>
              </a:ext>
            </a:extLst>
          </p:cNvPr>
          <p:cNvSpPr txBox="1"/>
          <p:nvPr/>
        </p:nvSpPr>
        <p:spPr>
          <a:xfrm>
            <a:off x="1524000" y="2247900"/>
            <a:ext cx="977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The business value behind each capability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FEF4FB-5709-ED29-3FA3-463025C28E6F}"/>
              </a:ext>
            </a:extLst>
          </p:cNvPr>
          <p:cNvSpPr/>
          <p:nvPr/>
        </p:nvSpPr>
        <p:spPr>
          <a:xfrm>
            <a:off x="609600" y="2692400"/>
            <a:ext cx="1097280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96E811-9DD9-BFF1-CD9C-04C85AA93831}"/>
              </a:ext>
            </a:extLst>
          </p:cNvPr>
          <p:cNvSpPr/>
          <p:nvPr/>
        </p:nvSpPr>
        <p:spPr>
          <a:xfrm>
            <a:off x="609600" y="2794000"/>
            <a:ext cx="63500" cy="4826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4C44F6-3859-F0B9-D860-94B12B3CB6A0}"/>
              </a:ext>
            </a:extLst>
          </p:cNvPr>
          <p:cNvSpPr txBox="1"/>
          <p:nvPr/>
        </p:nvSpPr>
        <p:spPr>
          <a:xfrm>
            <a:off x="838200" y="2857500"/>
            <a:ext cx="5588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009EA8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ED7925-72E9-054E-65D7-C5211401FACF}"/>
              </a:ext>
            </a:extLst>
          </p:cNvPr>
          <p:cNvSpPr txBox="1"/>
          <p:nvPr/>
        </p:nvSpPr>
        <p:spPr>
          <a:xfrm>
            <a:off x="1524000" y="2781300"/>
            <a:ext cx="5334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22648"/>
                </a:solidFill>
                <a:latin typeface="Segoe UI" panose="020B0502040204020203" pitchFamily="34" charset="0"/>
              </a:rPr>
              <a:t>Phased roadmap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C79F14-F64C-C189-B113-37A9DFA6BC79}"/>
              </a:ext>
            </a:extLst>
          </p:cNvPr>
          <p:cNvSpPr txBox="1"/>
          <p:nvPr/>
        </p:nvSpPr>
        <p:spPr>
          <a:xfrm>
            <a:off x="1524000" y="3060700"/>
            <a:ext cx="977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What we build first, and what follows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8B52091-6D47-B564-0023-DB6F07410CCB}"/>
              </a:ext>
            </a:extLst>
          </p:cNvPr>
          <p:cNvSpPr/>
          <p:nvPr/>
        </p:nvSpPr>
        <p:spPr>
          <a:xfrm>
            <a:off x="609600" y="3505200"/>
            <a:ext cx="1097280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291BEA-64E8-5FCE-BA98-AB19E984C1E2}"/>
              </a:ext>
            </a:extLst>
          </p:cNvPr>
          <p:cNvSpPr/>
          <p:nvPr/>
        </p:nvSpPr>
        <p:spPr>
          <a:xfrm>
            <a:off x="609600" y="3606800"/>
            <a:ext cx="63500" cy="4826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A67111-13F4-D37F-4BF7-94B4CBC47EEE}"/>
              </a:ext>
            </a:extLst>
          </p:cNvPr>
          <p:cNvSpPr txBox="1"/>
          <p:nvPr/>
        </p:nvSpPr>
        <p:spPr>
          <a:xfrm>
            <a:off x="838200" y="3670300"/>
            <a:ext cx="5588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009EA8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8304A4-CCDF-A716-4F5F-1ABE48B4A23E}"/>
              </a:ext>
            </a:extLst>
          </p:cNvPr>
          <p:cNvSpPr txBox="1"/>
          <p:nvPr/>
        </p:nvSpPr>
        <p:spPr>
          <a:xfrm>
            <a:off x="1524000" y="3594100"/>
            <a:ext cx="5334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22648"/>
                </a:solidFill>
                <a:latin typeface="Segoe UI" panose="020B0502040204020203" pitchFamily="34" charset="0"/>
              </a:rPr>
              <a:t>Capability deep-dives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B0C151-F75F-7131-A1F9-20F771199037}"/>
              </a:ext>
            </a:extLst>
          </p:cNvPr>
          <p:cNvSpPr txBox="1"/>
          <p:nvPr/>
        </p:nvSpPr>
        <p:spPr>
          <a:xfrm>
            <a:off x="1524000" y="3873500"/>
            <a:ext cx="977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Prompt, Model, Evaluation, Guardrails, Observability, Feedback, Governance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BFB6836-1CFF-6752-EAF6-D2C7AA0DADD7}"/>
              </a:ext>
            </a:extLst>
          </p:cNvPr>
          <p:cNvSpPr/>
          <p:nvPr/>
        </p:nvSpPr>
        <p:spPr>
          <a:xfrm>
            <a:off x="609600" y="4318000"/>
            <a:ext cx="1097280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DC0894-06B4-D089-F559-60B5F6AD689F}"/>
              </a:ext>
            </a:extLst>
          </p:cNvPr>
          <p:cNvSpPr/>
          <p:nvPr/>
        </p:nvSpPr>
        <p:spPr>
          <a:xfrm>
            <a:off x="609600" y="4419600"/>
            <a:ext cx="63500" cy="4826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051357-AEB8-2E13-1600-ED70D1ED719B}"/>
              </a:ext>
            </a:extLst>
          </p:cNvPr>
          <p:cNvSpPr txBox="1"/>
          <p:nvPr/>
        </p:nvSpPr>
        <p:spPr>
          <a:xfrm>
            <a:off x="838200" y="4483100"/>
            <a:ext cx="5588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009EA8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78589C-6901-57A7-2EE1-9F96C41E1B3E}"/>
              </a:ext>
            </a:extLst>
          </p:cNvPr>
          <p:cNvSpPr txBox="1"/>
          <p:nvPr/>
        </p:nvSpPr>
        <p:spPr>
          <a:xfrm>
            <a:off x="1524000" y="4406900"/>
            <a:ext cx="5334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500" b="1">
                <a:solidFill>
                  <a:srgbClr val="122648"/>
                </a:solidFill>
                <a:latin typeface="Segoe UI" panose="020B0502040204020203" pitchFamily="34" charset="0"/>
              </a:rPr>
              <a:t>APIX use case in depth</a:t>
            </a:r>
            <a:endParaRPr lang="en-IN" sz="15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FC6766-47AA-6D40-9F19-C3CE9108A984}"/>
              </a:ext>
            </a:extLst>
          </p:cNvPr>
          <p:cNvSpPr txBox="1"/>
          <p:nvPr/>
        </p:nvSpPr>
        <p:spPr>
          <a:xfrm>
            <a:off x="1524000" y="4686300"/>
            <a:ext cx="977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Pipeline, programs, metrics, and run economics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73A877-1D7B-8759-F7C5-2095307FE553}"/>
              </a:ext>
            </a:extLst>
          </p:cNvPr>
          <p:cNvSpPr/>
          <p:nvPr/>
        </p:nvSpPr>
        <p:spPr>
          <a:xfrm>
            <a:off x="609600" y="5130800"/>
            <a:ext cx="1097280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80E7DA4-4902-41D8-D020-888A356B6F0D}"/>
              </a:ext>
            </a:extLst>
          </p:cNvPr>
          <p:cNvSpPr/>
          <p:nvPr/>
        </p:nvSpPr>
        <p:spPr>
          <a:xfrm>
            <a:off x="609600" y="5232400"/>
            <a:ext cx="63500" cy="4826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2CC838-029C-6C50-925A-3D87285AD929}"/>
              </a:ext>
            </a:extLst>
          </p:cNvPr>
          <p:cNvSpPr txBox="1"/>
          <p:nvPr/>
        </p:nvSpPr>
        <p:spPr>
          <a:xfrm>
            <a:off x="838200" y="5295900"/>
            <a:ext cx="5588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009EA8"/>
                </a:solidFill>
                <a:latin typeface="Segoe UI" panose="020B0502040204020203" pitchFamily="34" charset="0"/>
              </a:rPr>
              <a:t>06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6CEFFA-E22A-926A-2053-8D8F83D6250C}"/>
              </a:ext>
            </a:extLst>
          </p:cNvPr>
          <p:cNvSpPr txBox="1"/>
          <p:nvPr/>
        </p:nvSpPr>
        <p:spPr>
          <a:xfrm>
            <a:off x="1524000" y="5219700"/>
            <a:ext cx="5334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22648"/>
                </a:solidFill>
                <a:latin typeface="Segoe UI" panose="020B0502040204020203" pitchFamily="34" charset="0"/>
              </a:rPr>
              <a:t>Patterns, recommendation &amp; live screens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286498-7604-6E40-B387-D85DB5215F39}"/>
              </a:ext>
            </a:extLst>
          </p:cNvPr>
          <p:cNvSpPr txBox="1"/>
          <p:nvPr/>
        </p:nvSpPr>
        <p:spPr>
          <a:xfrm>
            <a:off x="1524000" y="5499100"/>
            <a:ext cx="977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Frameworks, the Foundry-agents call, and the Ops Console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11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2CB2EA-D234-AE43-37F8-A651801FD0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11B368-065A-3746-FC49-C544B53CD192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BDB12-810B-380A-8AE1-646B1FBEB674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What LLMOps Covers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BA712-795E-4D9A-A5F4-27D56B30035B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The operating layer around every single LLM call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6325E3-0EA6-E47C-2BE2-01BE340F5902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606EA2-AB82-E9CB-F427-ABD64C2C2AB8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D0FF19-1B73-D92D-C79F-994AFA9F9FC9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8F06F3-2489-9155-46A2-ADFB2E439C6C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3E9708-C2C7-4CA9-6E30-46902053A262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234635-324B-5E35-3A40-A4D3D9D7E2EB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LLMOps is how we build and operate LLM applications to a standard - not a feature, but the foundation every pattern plugs into.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5E93E3-B993-FD98-A114-D5D1D1D67590}"/>
              </a:ext>
            </a:extLst>
          </p:cNvPr>
          <p:cNvSpPr/>
          <p:nvPr/>
        </p:nvSpPr>
        <p:spPr>
          <a:xfrm>
            <a:off x="609600" y="1473200"/>
            <a:ext cx="53848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03C31F-5EAE-0509-962C-B031335FB555}"/>
              </a:ext>
            </a:extLst>
          </p:cNvPr>
          <p:cNvSpPr/>
          <p:nvPr/>
        </p:nvSpPr>
        <p:spPr>
          <a:xfrm>
            <a:off x="609600" y="1574800"/>
            <a:ext cx="63500" cy="9398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CE175A-19C7-B606-0C9C-705FF7FF43A8}"/>
              </a:ext>
            </a:extLst>
          </p:cNvPr>
          <p:cNvSpPr/>
          <p:nvPr/>
        </p:nvSpPr>
        <p:spPr>
          <a:xfrm>
            <a:off x="812800" y="1651000"/>
            <a:ext cx="406400" cy="406400"/>
          </a:xfrm>
          <a:prstGeom prst="ellipse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5C9783-D2B0-EBA2-6FA9-1FA5403D88D6}"/>
              </a:ext>
            </a:extLst>
          </p:cNvPr>
          <p:cNvSpPr txBox="1"/>
          <p:nvPr/>
        </p:nvSpPr>
        <p:spPr>
          <a:xfrm>
            <a:off x="1346200" y="1638300"/>
            <a:ext cx="44704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2A76BE"/>
                </a:solidFill>
                <a:latin typeface="Segoe UI" panose="020B0502040204020203" pitchFamily="34" charset="0"/>
              </a:rPr>
              <a:t>Prompt Management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626E43-9089-0986-256E-21AB80F06F54}"/>
              </a:ext>
            </a:extLst>
          </p:cNvPr>
          <p:cNvSpPr txBox="1"/>
          <p:nvPr/>
        </p:nvSpPr>
        <p:spPr>
          <a:xfrm>
            <a:off x="1346200" y="1981200"/>
            <a:ext cx="4470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Version prompts; change with no redeploy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E4487F-589B-5988-1F6C-37550C8CE885}"/>
              </a:ext>
            </a:extLst>
          </p:cNvPr>
          <p:cNvSpPr/>
          <p:nvPr/>
        </p:nvSpPr>
        <p:spPr>
          <a:xfrm>
            <a:off x="6197600" y="1473200"/>
            <a:ext cx="53848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724B56-DFBC-369D-52A2-8225FA8BEDFB}"/>
              </a:ext>
            </a:extLst>
          </p:cNvPr>
          <p:cNvSpPr/>
          <p:nvPr/>
        </p:nvSpPr>
        <p:spPr>
          <a:xfrm>
            <a:off x="6197600" y="1574800"/>
            <a:ext cx="63500" cy="9398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8526161-1F0E-1002-EF3F-466748A26D63}"/>
              </a:ext>
            </a:extLst>
          </p:cNvPr>
          <p:cNvSpPr/>
          <p:nvPr/>
        </p:nvSpPr>
        <p:spPr>
          <a:xfrm>
            <a:off x="6400800" y="1651000"/>
            <a:ext cx="406400" cy="406400"/>
          </a:xfrm>
          <a:prstGeom prst="ellipse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F3426B-C932-875C-CF5C-3F5FC6CF1927}"/>
              </a:ext>
            </a:extLst>
          </p:cNvPr>
          <p:cNvSpPr txBox="1"/>
          <p:nvPr/>
        </p:nvSpPr>
        <p:spPr>
          <a:xfrm>
            <a:off x="6934200" y="1638300"/>
            <a:ext cx="44704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2A76BE"/>
                </a:solidFill>
                <a:latin typeface="Segoe UI" panose="020B0502040204020203" pitchFamily="34" charset="0"/>
              </a:rPr>
              <a:t>Model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F6C46C-5314-17F0-FF65-142C521D2947}"/>
              </a:ext>
            </a:extLst>
          </p:cNvPr>
          <p:cNvSpPr txBox="1"/>
          <p:nvPr/>
        </p:nvSpPr>
        <p:spPr>
          <a:xfrm>
            <a:off x="6934200" y="1981200"/>
            <a:ext cx="4470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Route calls by role; swap models safely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179B7C2-B64D-2BDB-2AFE-7E52E405CA84}"/>
              </a:ext>
            </a:extLst>
          </p:cNvPr>
          <p:cNvSpPr/>
          <p:nvPr/>
        </p:nvSpPr>
        <p:spPr>
          <a:xfrm>
            <a:off x="609600" y="2768600"/>
            <a:ext cx="53848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5BE78E-8085-9369-C1BC-196AFED3E3E5}"/>
              </a:ext>
            </a:extLst>
          </p:cNvPr>
          <p:cNvSpPr/>
          <p:nvPr/>
        </p:nvSpPr>
        <p:spPr>
          <a:xfrm>
            <a:off x="609600" y="2870200"/>
            <a:ext cx="63500" cy="9398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4A942EA-F716-EAEE-C345-C3B35EF387CE}"/>
              </a:ext>
            </a:extLst>
          </p:cNvPr>
          <p:cNvSpPr/>
          <p:nvPr/>
        </p:nvSpPr>
        <p:spPr>
          <a:xfrm>
            <a:off x="812800" y="2946400"/>
            <a:ext cx="406400" cy="406400"/>
          </a:xfrm>
          <a:prstGeom prst="ellipse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4DE49E-964A-B654-A911-A9BD82D7D7BE}"/>
              </a:ext>
            </a:extLst>
          </p:cNvPr>
          <p:cNvSpPr txBox="1"/>
          <p:nvPr/>
        </p:nvSpPr>
        <p:spPr>
          <a:xfrm>
            <a:off x="1346200" y="2933700"/>
            <a:ext cx="44704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16A078"/>
                </a:solidFill>
                <a:latin typeface="Segoe UI" panose="020B0502040204020203" pitchFamily="34" charset="0"/>
              </a:rPr>
              <a:t>Evaluation Gate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85A018-F9A7-C287-1CA5-BB201ECFE3F0}"/>
              </a:ext>
            </a:extLst>
          </p:cNvPr>
          <p:cNvSpPr txBox="1"/>
          <p:nvPr/>
        </p:nvSpPr>
        <p:spPr>
          <a:xfrm>
            <a:off x="1346200" y="3276600"/>
            <a:ext cx="4470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Score changes vs golden data before ship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D66BD9B-CA9C-B108-3BBB-FEE749B49C86}"/>
              </a:ext>
            </a:extLst>
          </p:cNvPr>
          <p:cNvSpPr/>
          <p:nvPr/>
        </p:nvSpPr>
        <p:spPr>
          <a:xfrm>
            <a:off x="6197600" y="2768600"/>
            <a:ext cx="53848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E2536D-DD6F-6C74-98E1-90C46DBD0DB7}"/>
              </a:ext>
            </a:extLst>
          </p:cNvPr>
          <p:cNvSpPr/>
          <p:nvPr/>
        </p:nvSpPr>
        <p:spPr>
          <a:xfrm>
            <a:off x="6197600" y="2870200"/>
            <a:ext cx="63500" cy="9398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1FC6205-AF6C-8947-614D-608049614087}"/>
              </a:ext>
            </a:extLst>
          </p:cNvPr>
          <p:cNvSpPr/>
          <p:nvPr/>
        </p:nvSpPr>
        <p:spPr>
          <a:xfrm>
            <a:off x="6400800" y="2946400"/>
            <a:ext cx="406400" cy="406400"/>
          </a:xfrm>
          <a:prstGeom prst="ellipse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211202-FE87-D787-59AE-46A192CE7753}"/>
              </a:ext>
            </a:extLst>
          </p:cNvPr>
          <p:cNvSpPr txBox="1"/>
          <p:nvPr/>
        </p:nvSpPr>
        <p:spPr>
          <a:xfrm>
            <a:off x="6934200" y="2933700"/>
            <a:ext cx="44704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16A078"/>
                </a:solidFill>
                <a:latin typeface="Segoe UI" panose="020B0502040204020203" pitchFamily="34" charset="0"/>
              </a:rPr>
              <a:t>Guardrails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A5188D-53B2-0E9B-7ED9-B7A535ED1888}"/>
              </a:ext>
            </a:extLst>
          </p:cNvPr>
          <p:cNvSpPr txBox="1"/>
          <p:nvPr/>
        </p:nvSpPr>
        <p:spPr>
          <a:xfrm>
            <a:off x="6934200" y="3276600"/>
            <a:ext cx="4470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>
                <a:solidFill>
                  <a:srgbClr val="606A7A"/>
                </a:solidFill>
                <a:latin typeface="Segoe UI" panose="020B0502040204020203" pitchFamily="34" charset="0"/>
              </a:rPr>
              <a:t>PII / secrets / injection / content safety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32B1BB6-50B4-A359-2267-9B37433274E9}"/>
              </a:ext>
            </a:extLst>
          </p:cNvPr>
          <p:cNvSpPr/>
          <p:nvPr/>
        </p:nvSpPr>
        <p:spPr>
          <a:xfrm>
            <a:off x="609600" y="4064000"/>
            <a:ext cx="53848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153379-8B9B-D29B-4BC5-5032952095DA}"/>
              </a:ext>
            </a:extLst>
          </p:cNvPr>
          <p:cNvSpPr/>
          <p:nvPr/>
        </p:nvSpPr>
        <p:spPr>
          <a:xfrm>
            <a:off x="609600" y="4165600"/>
            <a:ext cx="63500" cy="9398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F8BAABF-A261-73E0-F167-388BAEB5BC5A}"/>
              </a:ext>
            </a:extLst>
          </p:cNvPr>
          <p:cNvSpPr/>
          <p:nvPr/>
        </p:nvSpPr>
        <p:spPr>
          <a:xfrm>
            <a:off x="812800" y="4241800"/>
            <a:ext cx="406400" cy="406400"/>
          </a:xfrm>
          <a:prstGeom prst="ellipse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04A548-04CF-94F6-02D9-24755BAA1CEA}"/>
              </a:ext>
            </a:extLst>
          </p:cNvPr>
          <p:cNvSpPr txBox="1"/>
          <p:nvPr/>
        </p:nvSpPr>
        <p:spPr>
          <a:xfrm>
            <a:off x="1346200" y="4229100"/>
            <a:ext cx="44704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009EA8"/>
                </a:solidFill>
                <a:latin typeface="Segoe UI" panose="020B0502040204020203" pitchFamily="34" charset="0"/>
              </a:rPr>
              <a:t>Observability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9B8104-2F28-2D70-B62A-4176916A29E3}"/>
              </a:ext>
            </a:extLst>
          </p:cNvPr>
          <p:cNvSpPr txBox="1"/>
          <p:nvPr/>
        </p:nvSpPr>
        <p:spPr>
          <a:xfrm>
            <a:off x="1346200" y="4572000"/>
            <a:ext cx="4470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Tokens, cost, latency, errors - per call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97DD7A2-CE51-F2D4-6D9F-B0A29329A41C}"/>
              </a:ext>
            </a:extLst>
          </p:cNvPr>
          <p:cNvSpPr/>
          <p:nvPr/>
        </p:nvSpPr>
        <p:spPr>
          <a:xfrm>
            <a:off x="6197600" y="4064000"/>
            <a:ext cx="53848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EB376C-6CB7-1696-FBB0-E616C90CE2D6}"/>
              </a:ext>
            </a:extLst>
          </p:cNvPr>
          <p:cNvSpPr/>
          <p:nvPr/>
        </p:nvSpPr>
        <p:spPr>
          <a:xfrm>
            <a:off x="6197600" y="4165600"/>
            <a:ext cx="63500" cy="9398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313A36-33D9-B6A6-7C7D-0A1067080996}"/>
              </a:ext>
            </a:extLst>
          </p:cNvPr>
          <p:cNvSpPr/>
          <p:nvPr/>
        </p:nvSpPr>
        <p:spPr>
          <a:xfrm>
            <a:off x="6400800" y="4241800"/>
            <a:ext cx="406400" cy="406400"/>
          </a:xfrm>
          <a:prstGeom prst="ellipse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EEAF05-B3DC-04FD-8E82-18D9C53B42D7}"/>
              </a:ext>
            </a:extLst>
          </p:cNvPr>
          <p:cNvSpPr txBox="1"/>
          <p:nvPr/>
        </p:nvSpPr>
        <p:spPr>
          <a:xfrm>
            <a:off x="6934200" y="4229100"/>
            <a:ext cx="44704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8E5CB2"/>
                </a:solidFill>
                <a:latin typeface="Segoe UI" panose="020B0502040204020203" pitchFamily="34" charset="0"/>
              </a:rPr>
              <a:t>Feedback Loop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65614F-BC56-3E4D-1924-062C9F401596}"/>
              </a:ext>
            </a:extLst>
          </p:cNvPr>
          <p:cNvSpPr txBox="1"/>
          <p:nvPr/>
        </p:nvSpPr>
        <p:spPr>
          <a:xfrm>
            <a:off x="6934200" y="4572000"/>
            <a:ext cx="4470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Human corrections feed the golden set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D19A4F2-38E8-EA65-D241-297C6364F764}"/>
              </a:ext>
            </a:extLst>
          </p:cNvPr>
          <p:cNvSpPr/>
          <p:nvPr/>
        </p:nvSpPr>
        <p:spPr>
          <a:xfrm>
            <a:off x="609600" y="5359400"/>
            <a:ext cx="53848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666D633-308A-A2B9-F067-69CE917FE5DF}"/>
              </a:ext>
            </a:extLst>
          </p:cNvPr>
          <p:cNvSpPr/>
          <p:nvPr/>
        </p:nvSpPr>
        <p:spPr>
          <a:xfrm>
            <a:off x="609600" y="5461000"/>
            <a:ext cx="63500" cy="939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7B50865-4407-6D0D-738D-1D97155DDDE7}"/>
              </a:ext>
            </a:extLst>
          </p:cNvPr>
          <p:cNvSpPr/>
          <p:nvPr/>
        </p:nvSpPr>
        <p:spPr>
          <a:xfrm>
            <a:off x="812800" y="5537200"/>
            <a:ext cx="406400" cy="406400"/>
          </a:xfrm>
          <a:prstGeom prst="ellipse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E941E9-A5FD-F9AD-E90B-E0FDDBF57D37}"/>
              </a:ext>
            </a:extLst>
          </p:cNvPr>
          <p:cNvSpPr txBox="1"/>
          <p:nvPr/>
        </p:nvSpPr>
        <p:spPr>
          <a:xfrm>
            <a:off x="1346200" y="5524500"/>
            <a:ext cx="44704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122648"/>
                </a:solidFill>
                <a:latin typeface="Segoe UI" panose="020B0502040204020203" pitchFamily="34" charset="0"/>
              </a:rPr>
              <a:t>Governance &amp; Audit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B5BF4F-4374-D677-1040-38654866E177}"/>
              </a:ext>
            </a:extLst>
          </p:cNvPr>
          <p:cNvSpPr txBox="1"/>
          <p:nvPr/>
        </p:nvSpPr>
        <p:spPr>
          <a:xfrm>
            <a:off x="1346200" y="5867400"/>
            <a:ext cx="4470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Who changed what; trace every decision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723A9F3-31D2-3A98-E7BF-8D3CF75FE2FB}"/>
              </a:ext>
            </a:extLst>
          </p:cNvPr>
          <p:cNvSpPr/>
          <p:nvPr/>
        </p:nvSpPr>
        <p:spPr>
          <a:xfrm>
            <a:off x="6197600" y="5359400"/>
            <a:ext cx="5384800" cy="114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09E6B6-F6C6-1222-6E6A-92E5F67E140D}"/>
              </a:ext>
            </a:extLst>
          </p:cNvPr>
          <p:cNvSpPr/>
          <p:nvPr/>
        </p:nvSpPr>
        <p:spPr>
          <a:xfrm>
            <a:off x="6197600" y="5461000"/>
            <a:ext cx="63500" cy="9398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4581360-A5C3-8550-3FA5-BBA60F14A84C}"/>
              </a:ext>
            </a:extLst>
          </p:cNvPr>
          <p:cNvSpPr/>
          <p:nvPr/>
        </p:nvSpPr>
        <p:spPr>
          <a:xfrm>
            <a:off x="6400800" y="5537200"/>
            <a:ext cx="406400" cy="406400"/>
          </a:xfrm>
          <a:prstGeom prst="ellipse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BAB255-0385-ADB5-3658-B9BE7D106E45}"/>
              </a:ext>
            </a:extLst>
          </p:cNvPr>
          <p:cNvSpPr txBox="1"/>
          <p:nvPr/>
        </p:nvSpPr>
        <p:spPr>
          <a:xfrm>
            <a:off x="6934200" y="5524500"/>
            <a:ext cx="44704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CD8712"/>
                </a:solidFill>
                <a:latin typeface="Segoe UI" panose="020B0502040204020203" pitchFamily="34" charset="0"/>
              </a:rPr>
              <a:t>Cost &amp; Throughput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76B16C-5FAF-3957-13FA-EA6D344E788D}"/>
              </a:ext>
            </a:extLst>
          </p:cNvPr>
          <p:cNvSpPr txBox="1"/>
          <p:nvPr/>
        </p:nvSpPr>
        <p:spPr>
          <a:xfrm>
            <a:off x="6934200" y="5867400"/>
            <a:ext cx="44704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>
                <a:solidFill>
                  <a:srgbClr val="606A7A"/>
                </a:solidFill>
                <a:latin typeface="Segoe UI" panose="020B0502040204020203" pitchFamily="34" charset="0"/>
              </a:rPr>
              <a:t>Rate limits, budgets, caching</a:t>
            </a:r>
          </a:p>
        </p:txBody>
      </p:sp>
    </p:spTree>
    <p:extLst>
      <p:ext uri="{BB962C8B-B14F-4D97-AF65-F5344CB8AC3E}">
        <p14:creationId xmlns:p14="http://schemas.microsoft.com/office/powerpoint/2010/main" val="319812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50A046-0E5C-F855-C461-C68082F915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BA6140-5A54-CCF7-C2D2-A501A745266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02FB4-AE90-8794-6B7D-2573E845360F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Why It Matters for APIX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99229-10B8-7A56-9D39-5F7354EEC2BE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Turning a proven concept into a system AFNI can trust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7A1ED-7D3C-B067-FF68-E25BEB25BC81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B57E0-1054-290F-238F-F82ACC2409CD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69FBA5-2025-A72F-844E-0439F34B147F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01AAC-A07A-E948-C488-DB15C96B4BB3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47D1D-2F6A-2540-A498-AE604D1129D5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2502C-2BB6-B126-277F-5EFB2E35624B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Each LLMOps capability maps to a concrete business reason - not technology for its own sake.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F020CF-0C6B-5DD4-5B16-9F39E37A3DEA}"/>
              </a:ext>
            </a:extLst>
          </p:cNvPr>
          <p:cNvSpPr/>
          <p:nvPr/>
        </p:nvSpPr>
        <p:spPr>
          <a:xfrm>
            <a:off x="609600" y="1473200"/>
            <a:ext cx="10972800" cy="787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5677C7-64D1-C296-B733-7C9FA72A5E1C}"/>
              </a:ext>
            </a:extLst>
          </p:cNvPr>
          <p:cNvSpPr/>
          <p:nvPr/>
        </p:nvSpPr>
        <p:spPr>
          <a:xfrm>
            <a:off x="609600" y="1574800"/>
            <a:ext cx="63500" cy="5842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BE575F-8A98-EC1F-BFE9-A07D3A847DC9}"/>
              </a:ext>
            </a:extLst>
          </p:cNvPr>
          <p:cNvSpPr txBox="1"/>
          <p:nvPr/>
        </p:nvSpPr>
        <p:spPr>
          <a:xfrm>
            <a:off x="889000" y="1587500"/>
            <a:ext cx="2921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22648"/>
                </a:solidFill>
                <a:latin typeface="Segoe UI" panose="020B0502040204020203" pitchFamily="34" charset="0"/>
              </a:rPr>
              <a:t>Trust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68ED57-F9D0-CC2C-40EB-27DD52C9376E}"/>
              </a:ext>
            </a:extLst>
          </p:cNvPr>
          <p:cNvSpPr txBox="1"/>
          <p:nvPr/>
        </p:nvSpPr>
        <p:spPr>
          <a:xfrm>
            <a:off x="3810000" y="1587500"/>
            <a:ext cx="7569200" cy="3949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606A7A"/>
                </a:solidFill>
                <a:latin typeface="Segoe UI" panose="020B0502040204020203" pitchFamily="34" charset="0"/>
              </a:rPr>
              <a:t>Coaches and QA act on AI scores that affect real people - eval gates plus evidence-traceability make every score defensible.</a:t>
            </a:r>
            <a:endParaRPr lang="en-IN" sz="12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D8DB12-F257-912A-4B1C-629C001C432A}"/>
              </a:ext>
            </a:extLst>
          </p:cNvPr>
          <p:cNvSpPr/>
          <p:nvPr/>
        </p:nvSpPr>
        <p:spPr>
          <a:xfrm>
            <a:off x="609600" y="2413000"/>
            <a:ext cx="10972800" cy="787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CF8B2A-00AB-0D43-B6EF-F9017F8C5117}"/>
              </a:ext>
            </a:extLst>
          </p:cNvPr>
          <p:cNvSpPr/>
          <p:nvPr/>
        </p:nvSpPr>
        <p:spPr>
          <a:xfrm>
            <a:off x="609600" y="2514600"/>
            <a:ext cx="63500" cy="5842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FC24E3-1E32-DBC5-3785-CBECD701D78A}"/>
              </a:ext>
            </a:extLst>
          </p:cNvPr>
          <p:cNvSpPr txBox="1"/>
          <p:nvPr/>
        </p:nvSpPr>
        <p:spPr>
          <a:xfrm>
            <a:off x="889000" y="2527300"/>
            <a:ext cx="2921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22648"/>
                </a:solidFill>
                <a:latin typeface="Segoe UI" panose="020B0502040204020203" pitchFamily="34" charset="0"/>
              </a:rPr>
              <a:t>Cost control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7E8F2B-57FA-F331-8007-81CB967DF649}"/>
              </a:ext>
            </a:extLst>
          </p:cNvPr>
          <p:cNvSpPr txBox="1"/>
          <p:nvPr/>
        </p:nvSpPr>
        <p:spPr>
          <a:xfrm>
            <a:off x="3810000" y="2527300"/>
            <a:ext cx="75692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606A7A"/>
                </a:solidFill>
                <a:latin typeface="Segoe UI" panose="020B0502040204020203" pitchFamily="34" charset="0"/>
              </a:rPr>
              <a:t>Scoring 100% of calls is heavy token spend - observability makes it visible before the bill arrives.</a:t>
            </a:r>
            <a:endParaRPr lang="en-IN" sz="12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137ECB0-16D3-0D3E-3FB5-95940DACCA6A}"/>
              </a:ext>
            </a:extLst>
          </p:cNvPr>
          <p:cNvSpPr/>
          <p:nvPr/>
        </p:nvSpPr>
        <p:spPr>
          <a:xfrm>
            <a:off x="609600" y="3352800"/>
            <a:ext cx="10972800" cy="787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56544F-2BCD-FE5E-748A-7D1B2FA4FBF7}"/>
              </a:ext>
            </a:extLst>
          </p:cNvPr>
          <p:cNvSpPr/>
          <p:nvPr/>
        </p:nvSpPr>
        <p:spPr>
          <a:xfrm>
            <a:off x="609600" y="3454400"/>
            <a:ext cx="63500" cy="584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CC34BA-A4FA-7CDC-EDE2-2582E14A36FC}"/>
              </a:ext>
            </a:extLst>
          </p:cNvPr>
          <p:cNvSpPr txBox="1"/>
          <p:nvPr/>
        </p:nvSpPr>
        <p:spPr>
          <a:xfrm>
            <a:off x="889000" y="3467100"/>
            <a:ext cx="2921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22648"/>
                </a:solidFill>
                <a:latin typeface="Segoe UI" panose="020B0502040204020203" pitchFamily="34" charset="0"/>
              </a:rPr>
              <a:t>Safety &amp; compliance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75B1B7-0AB5-9A0F-CC2F-635B384C5884}"/>
              </a:ext>
            </a:extLst>
          </p:cNvPr>
          <p:cNvSpPr txBox="1"/>
          <p:nvPr/>
        </p:nvSpPr>
        <p:spPr>
          <a:xfrm>
            <a:off x="3810000" y="3467100"/>
            <a:ext cx="75692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606A7A"/>
                </a:solidFill>
                <a:latin typeface="Segoe UI" panose="020B0502040204020203" pitchFamily="34" charset="0"/>
              </a:rPr>
              <a:t>Transcripts carry PII (insurance, customer data) - guardrails are mandatory, not optional, for a BPO.</a:t>
            </a:r>
            <a:endParaRPr lang="en-IN" sz="12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9436157-D5CD-584C-E965-3F5CAD6C6398}"/>
              </a:ext>
            </a:extLst>
          </p:cNvPr>
          <p:cNvSpPr/>
          <p:nvPr/>
        </p:nvSpPr>
        <p:spPr>
          <a:xfrm>
            <a:off x="609600" y="4292600"/>
            <a:ext cx="10972800" cy="787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81D988-59C2-CFA1-C74A-5E0DA3895B4F}"/>
              </a:ext>
            </a:extLst>
          </p:cNvPr>
          <p:cNvSpPr/>
          <p:nvPr/>
        </p:nvSpPr>
        <p:spPr>
          <a:xfrm>
            <a:off x="609600" y="4394200"/>
            <a:ext cx="63500" cy="5842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78BFB9-B26F-5130-C189-D6EB15779831}"/>
              </a:ext>
            </a:extLst>
          </p:cNvPr>
          <p:cNvSpPr txBox="1"/>
          <p:nvPr/>
        </p:nvSpPr>
        <p:spPr>
          <a:xfrm>
            <a:off x="889000" y="4406900"/>
            <a:ext cx="2921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22648"/>
                </a:solidFill>
                <a:latin typeface="Segoe UI" panose="020B0502040204020203" pitchFamily="34" charset="0"/>
              </a:rPr>
              <a:t>Quality without drift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EA7E01-43CB-6F45-C79A-7D1FA6CFB071}"/>
              </a:ext>
            </a:extLst>
          </p:cNvPr>
          <p:cNvSpPr txBox="1"/>
          <p:nvPr/>
        </p:nvSpPr>
        <p:spPr>
          <a:xfrm>
            <a:off x="3810000" y="4406900"/>
            <a:ext cx="75692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606A7A"/>
                </a:solidFill>
                <a:latin typeface="Segoe UI" panose="020B0502040204020203" pitchFamily="34" charset="0"/>
              </a:rPr>
              <a:t>A prompt tweak that helps one program can quietly break another - the eval gate catches it before production.</a:t>
            </a:r>
            <a:endParaRPr lang="en-IN" sz="12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F0CB3E0-27B4-091A-D44D-F3F48E10235D}"/>
              </a:ext>
            </a:extLst>
          </p:cNvPr>
          <p:cNvSpPr/>
          <p:nvPr/>
        </p:nvSpPr>
        <p:spPr>
          <a:xfrm>
            <a:off x="609600" y="5232400"/>
            <a:ext cx="10972800" cy="787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58F4BB-2745-7640-C264-A010395224E1}"/>
              </a:ext>
            </a:extLst>
          </p:cNvPr>
          <p:cNvSpPr/>
          <p:nvPr/>
        </p:nvSpPr>
        <p:spPr>
          <a:xfrm>
            <a:off x="609600" y="5334000"/>
            <a:ext cx="63500" cy="584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EB6668-7146-86DA-C462-C5DDDF53076C}"/>
              </a:ext>
            </a:extLst>
          </p:cNvPr>
          <p:cNvSpPr txBox="1"/>
          <p:nvPr/>
        </p:nvSpPr>
        <p:spPr>
          <a:xfrm>
            <a:off x="889000" y="5346700"/>
            <a:ext cx="2921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22648"/>
                </a:solidFill>
                <a:latin typeface="Segoe UI" panose="020B0502040204020203" pitchFamily="34" charset="0"/>
              </a:rPr>
              <a:t>Continuous improvement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A109B2-F6B9-9674-29F2-293197521FCD}"/>
              </a:ext>
            </a:extLst>
          </p:cNvPr>
          <p:cNvSpPr txBox="1"/>
          <p:nvPr/>
        </p:nvSpPr>
        <p:spPr>
          <a:xfrm>
            <a:off x="3810000" y="5346700"/>
            <a:ext cx="75692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606A7A"/>
                </a:solidFill>
                <a:latin typeface="Segoe UI" panose="020B0502040204020203" pitchFamily="34" charset="0"/>
              </a:rPr>
              <a:t>Coach feedback actually improves the model over time, instead of just being logged and forgotten.</a:t>
            </a:r>
            <a:endParaRPr lang="en-IN" sz="12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984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6964CC-49F9-EFAC-E386-02938B4549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D2690-D2E2-DA0D-751C-E25E5DD52E9F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CA4FA-F0EB-D43E-D6ED-576D8C1B13B3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Phased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C689E-085F-3E10-5A7A-6BEAD5E85ACA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Build the foundation first, then scale and mature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D5ECE-DCD2-9BF6-95EF-D2A10FC559DA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3B237F-13CC-AE93-6FE3-5F0D9F189D9A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703ED-22C5-3754-30D4-AC78F971C36B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9869E-50A8-E71C-6AFC-D44E27AB6349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A030BB-89E5-4E80-E469-1102102B6FDE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67894E-CAEA-97F5-6F64-217D0C02A402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APIX launches on a complete LLMOps foundation; later phases add scale, operational maturity, and reuse.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46F29D-D340-E66D-5433-CA223D172834}"/>
              </a:ext>
            </a:extLst>
          </p:cNvPr>
          <p:cNvSpPr/>
          <p:nvPr/>
        </p:nvSpPr>
        <p:spPr>
          <a:xfrm>
            <a:off x="609600" y="1473200"/>
            <a:ext cx="10972800" cy="914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09AD3D-A5CB-E424-EE6C-BCEA5823F337}"/>
              </a:ext>
            </a:extLst>
          </p:cNvPr>
          <p:cNvSpPr/>
          <p:nvPr/>
        </p:nvSpPr>
        <p:spPr>
          <a:xfrm>
            <a:off x="609600" y="1574800"/>
            <a:ext cx="63500" cy="7112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C231C41-8F1D-F7A8-6106-7475535FD7E7}"/>
              </a:ext>
            </a:extLst>
          </p:cNvPr>
          <p:cNvSpPr/>
          <p:nvPr/>
        </p:nvSpPr>
        <p:spPr>
          <a:xfrm>
            <a:off x="812800" y="1663700"/>
            <a:ext cx="1371600" cy="533400"/>
          </a:xfrm>
          <a:prstGeom prst="round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Phase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FE2753-BCAD-11F8-91A7-FC1A1EDB76DA}"/>
              </a:ext>
            </a:extLst>
          </p:cNvPr>
          <p:cNvSpPr txBox="1"/>
          <p:nvPr/>
        </p:nvSpPr>
        <p:spPr>
          <a:xfrm>
            <a:off x="2413000" y="1612900"/>
            <a:ext cx="88900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122648"/>
                </a:solidFill>
                <a:latin typeface="Segoe UI" panose="020B0502040204020203" pitchFamily="34" charset="0"/>
              </a:rPr>
              <a:t>Foundation (launch)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D6D15F-3EA7-5620-4F6C-EA7F8FD8E754}"/>
              </a:ext>
            </a:extLst>
          </p:cNvPr>
          <p:cNvSpPr txBox="1"/>
          <p:nvPr/>
        </p:nvSpPr>
        <p:spPr>
          <a:xfrm>
            <a:off x="2413000" y="1943100"/>
            <a:ext cx="9017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Prompt + Model Management  .  Evaluation Gate  .  Guardrails  .  Observability  .  Governance &amp; Audit  .  Feedback Loop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6F1A5E-01FE-3B62-BA22-9973E9390705}"/>
              </a:ext>
            </a:extLst>
          </p:cNvPr>
          <p:cNvSpPr/>
          <p:nvPr/>
        </p:nvSpPr>
        <p:spPr>
          <a:xfrm>
            <a:off x="609600" y="2514600"/>
            <a:ext cx="10972800" cy="914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E87454-5438-F752-F00F-E636B61E3356}"/>
              </a:ext>
            </a:extLst>
          </p:cNvPr>
          <p:cNvSpPr/>
          <p:nvPr/>
        </p:nvSpPr>
        <p:spPr>
          <a:xfrm>
            <a:off x="609600" y="2616200"/>
            <a:ext cx="63500" cy="711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4FA93D-2B02-2109-FF45-74FC3E0232E5}"/>
              </a:ext>
            </a:extLst>
          </p:cNvPr>
          <p:cNvSpPr/>
          <p:nvPr/>
        </p:nvSpPr>
        <p:spPr>
          <a:xfrm>
            <a:off x="812800" y="2705100"/>
            <a:ext cx="1371600" cy="5334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Phase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319A42-4AD6-986D-A20D-55066EA95267}"/>
              </a:ext>
            </a:extLst>
          </p:cNvPr>
          <p:cNvSpPr txBox="1"/>
          <p:nvPr/>
        </p:nvSpPr>
        <p:spPr>
          <a:xfrm>
            <a:off x="2413000" y="2654300"/>
            <a:ext cx="88900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009EA8"/>
                </a:solidFill>
                <a:latin typeface="Segoe UI" panose="020B0502040204020203" pitchFamily="34" charset="0"/>
              </a:rPr>
              <a:t>Scale &amp; Optimize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EB0AC7-BF12-AF83-0CDD-FE1729F45323}"/>
              </a:ext>
            </a:extLst>
          </p:cNvPr>
          <p:cNvSpPr txBox="1"/>
          <p:nvPr/>
        </p:nvSpPr>
        <p:spPr>
          <a:xfrm>
            <a:off x="2413000" y="2984500"/>
            <a:ext cx="9017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Rate / throughput management  .  Cost / FinOps controls  .  Prompt &amp; response caching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FF8DA73-A328-28E5-56FC-D8B668B3C834}"/>
              </a:ext>
            </a:extLst>
          </p:cNvPr>
          <p:cNvSpPr/>
          <p:nvPr/>
        </p:nvSpPr>
        <p:spPr>
          <a:xfrm>
            <a:off x="609600" y="3556000"/>
            <a:ext cx="10972800" cy="914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95DF93-DAF8-234C-5C33-FC97115CF8BA}"/>
              </a:ext>
            </a:extLst>
          </p:cNvPr>
          <p:cNvSpPr/>
          <p:nvPr/>
        </p:nvSpPr>
        <p:spPr>
          <a:xfrm>
            <a:off x="609600" y="3657600"/>
            <a:ext cx="63500" cy="7112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5F028BD-7DD4-AE64-E2EA-C8A88AC1FAA8}"/>
              </a:ext>
            </a:extLst>
          </p:cNvPr>
          <p:cNvSpPr/>
          <p:nvPr/>
        </p:nvSpPr>
        <p:spPr>
          <a:xfrm>
            <a:off x="812800" y="3746500"/>
            <a:ext cx="1371600" cy="5334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Phase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4C246A-78A4-352D-7342-4B77AB976845}"/>
              </a:ext>
            </a:extLst>
          </p:cNvPr>
          <p:cNvSpPr txBox="1"/>
          <p:nvPr/>
        </p:nvSpPr>
        <p:spPr>
          <a:xfrm>
            <a:off x="2413000" y="3695700"/>
            <a:ext cx="88900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16A078"/>
                </a:solidFill>
                <a:latin typeface="Segoe UI" panose="020B0502040204020203" pitchFamily="34" charset="0"/>
              </a:rPr>
              <a:t>Operational Maturity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79C624-2BFA-64EF-9978-7FA2E334BFD1}"/>
              </a:ext>
            </a:extLst>
          </p:cNvPr>
          <p:cNvSpPr txBox="1"/>
          <p:nvPr/>
        </p:nvSpPr>
        <p:spPr>
          <a:xfrm>
            <a:off x="2413000" y="4025900"/>
            <a:ext cx="9017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Release &amp; environment promotion  .  Incident response / kill-switch  .  Model &amp; prompt deprecation lifecycle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85C4FF-85CE-DB9E-539E-414506C3250A}"/>
              </a:ext>
            </a:extLst>
          </p:cNvPr>
          <p:cNvSpPr/>
          <p:nvPr/>
        </p:nvSpPr>
        <p:spPr>
          <a:xfrm>
            <a:off x="609600" y="4597400"/>
            <a:ext cx="10972800" cy="914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C2F988-BBF9-DAA6-161E-259F1A8B5CE7}"/>
              </a:ext>
            </a:extLst>
          </p:cNvPr>
          <p:cNvSpPr/>
          <p:nvPr/>
        </p:nvSpPr>
        <p:spPr>
          <a:xfrm>
            <a:off x="609600" y="4699000"/>
            <a:ext cx="63500" cy="711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80ED4B8-C356-0F09-DC38-27050C4CF259}"/>
              </a:ext>
            </a:extLst>
          </p:cNvPr>
          <p:cNvSpPr/>
          <p:nvPr/>
        </p:nvSpPr>
        <p:spPr>
          <a:xfrm>
            <a:off x="812800" y="4787900"/>
            <a:ext cx="1371600" cy="533400"/>
          </a:xfrm>
          <a:prstGeom prst="round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Phase 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53D422-EF08-D5D7-C5BA-163861023F75}"/>
              </a:ext>
            </a:extLst>
          </p:cNvPr>
          <p:cNvSpPr txBox="1"/>
          <p:nvPr/>
        </p:nvSpPr>
        <p:spPr>
          <a:xfrm>
            <a:off x="2413000" y="4737100"/>
            <a:ext cx="88900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8E5CB2"/>
                </a:solidFill>
                <a:latin typeface="Segoe UI" panose="020B0502040204020203" pitchFamily="34" charset="0"/>
              </a:rPr>
              <a:t>Reuse &amp; Expand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EF81BF-1AA8-5B93-8366-A1098A1A56F6}"/>
              </a:ext>
            </a:extLst>
          </p:cNvPr>
          <p:cNvSpPr txBox="1"/>
          <p:nvPr/>
        </p:nvSpPr>
        <p:spPr>
          <a:xfrm>
            <a:off x="2413000" y="5067300"/>
            <a:ext cx="9017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Onboard the next AFNI use case by configuration - models, prompts, guardrails, golden data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311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A5F3E3-1AE7-5245-FC9E-F3F8003A25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71C705-72A5-71B0-F25D-753020995525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34A84-B205-D455-0DF0-8547FCBA375B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The Ops Platform - The Centerpiece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4D8EA-7F05-F315-09A7-4876074EB3BC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Where the entire LLMOps platform becomes visible and operable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E3C7C7-62D9-F7F2-91A8-0F21EE942995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2FC841-75CE-C340-0F5B-C42CF4592782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2325E-5C21-C1B0-DFD9-A2BB982273AA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AA5DE2-5CA2-837C-2B40-C894EAE8AD3E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06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8C0913-2D7E-86DB-2C6A-C123C2C9CCDC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697EAD-879A-BF91-72C8-4F98A76846B4}"/>
              </a:ext>
            </a:extLst>
          </p:cNvPr>
          <p:cNvSpPr txBox="1"/>
          <p:nvPr/>
        </p:nvSpPr>
        <p:spPr>
          <a:xfrm>
            <a:off x="584200" y="965200"/>
            <a:ext cx="11049000" cy="4257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Without it, the platform is backend-only with nothing to show. The Ops Platform is the single console where every capability is operated - integrated with live APIX data.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F0F185-B03F-CC1E-C2EF-8F02C687FF3E}"/>
              </a:ext>
            </a:extLst>
          </p:cNvPr>
          <p:cNvSpPr/>
          <p:nvPr/>
        </p:nvSpPr>
        <p:spPr>
          <a:xfrm>
            <a:off x="762000" y="1498600"/>
            <a:ext cx="10668000" cy="762000"/>
          </a:xfrm>
          <a:prstGeom prst="round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AED81-1F4F-7692-3E95-C6E050A1178E}"/>
              </a:ext>
            </a:extLst>
          </p:cNvPr>
          <p:cNvSpPr txBox="1"/>
          <p:nvPr/>
        </p:nvSpPr>
        <p:spPr>
          <a:xfrm>
            <a:off x="965200" y="1600200"/>
            <a:ext cx="102616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122648"/>
                </a:solidFill>
                <a:latin typeface="Segoe UI" panose="020B0502040204020203" pitchFamily="34" charset="0"/>
              </a:rPr>
              <a:t>LLMOps Core capabilities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534DF1-B2AC-3AB6-8386-43101B4F3D36}"/>
              </a:ext>
            </a:extLst>
          </p:cNvPr>
          <p:cNvSpPr txBox="1"/>
          <p:nvPr/>
        </p:nvSpPr>
        <p:spPr>
          <a:xfrm>
            <a:off x="965200" y="1879600"/>
            <a:ext cx="102616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606A7A"/>
                </a:solidFill>
                <a:latin typeface="Segoe UI" panose="020B0502040204020203" pitchFamily="34" charset="0"/>
              </a:rPr>
              <a:t>Prompts   .   Models   .   Evaluation   .   Guardrails   .   Observability   .   Feedback   .   Governance</a:t>
            </a:r>
            <a:endParaRPr lang="en-IN" sz="12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CB41C80-4AC5-16DE-F552-93A2CA3B52C1}"/>
              </a:ext>
            </a:extLst>
          </p:cNvPr>
          <p:cNvSpPr/>
          <p:nvPr/>
        </p:nvSpPr>
        <p:spPr>
          <a:xfrm>
            <a:off x="5918200" y="2336800"/>
            <a:ext cx="355600" cy="254000"/>
          </a:xfrm>
          <a:prstGeom prst="rightArrow">
            <a:avLst/>
          </a:prstGeom>
          <a:solidFill>
            <a:srgbClr val="D6DB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2DCD27-F150-C7B3-6AF1-3EC51849833A}"/>
              </a:ext>
            </a:extLst>
          </p:cNvPr>
          <p:cNvSpPr/>
          <p:nvPr/>
        </p:nvSpPr>
        <p:spPr>
          <a:xfrm>
            <a:off x="762000" y="2692400"/>
            <a:ext cx="10668000" cy="12192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3FBE47-8402-20DB-6067-943ED973246C}"/>
              </a:ext>
            </a:extLst>
          </p:cNvPr>
          <p:cNvSpPr txBox="1"/>
          <p:nvPr/>
        </p:nvSpPr>
        <p:spPr>
          <a:xfrm>
            <a:off x="1016000" y="2895600"/>
            <a:ext cx="10160000" cy="4257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IN" sz="2600" b="1">
                <a:solidFill>
                  <a:srgbClr val="FFFFFF"/>
                </a:solidFill>
                <a:latin typeface="Segoe UI" panose="020B0502040204020203" pitchFamily="34" charset="0"/>
              </a:rPr>
              <a:t>OPS PLATFORM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6929E4-80D1-3A43-26B9-44B3B036DC21}"/>
              </a:ext>
            </a:extLst>
          </p:cNvPr>
          <p:cNvSpPr txBox="1"/>
          <p:nvPr/>
        </p:nvSpPr>
        <p:spPr>
          <a:xfrm>
            <a:off x="1016000" y="3378200"/>
            <a:ext cx="10160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sz="1300">
                <a:solidFill>
                  <a:srgbClr val="E1F0F2"/>
                </a:solidFill>
                <a:latin typeface="Segoe UI" panose="020B0502040204020203" pitchFamily="34" charset="0"/>
              </a:rPr>
              <a:t>one console   .   role-governed   .   every action audited   .   11 modules</a:t>
            </a:r>
            <a:endParaRPr lang="en-IN" sz="1300">
              <a:solidFill>
                <a:srgbClr val="E1F0F2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A505BE-5C32-E682-0008-630D0347E0BA}"/>
              </a:ext>
            </a:extLst>
          </p:cNvPr>
          <p:cNvSpPr/>
          <p:nvPr/>
        </p:nvSpPr>
        <p:spPr>
          <a:xfrm>
            <a:off x="5918200" y="3987800"/>
            <a:ext cx="355600" cy="254000"/>
          </a:xfrm>
          <a:prstGeom prst="rightArrow">
            <a:avLst/>
          </a:prstGeom>
          <a:solidFill>
            <a:srgbClr val="D6DB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0BD660-385A-BFA7-033B-146272C41D89}"/>
              </a:ext>
            </a:extLst>
          </p:cNvPr>
          <p:cNvSpPr/>
          <p:nvPr/>
        </p:nvSpPr>
        <p:spPr>
          <a:xfrm>
            <a:off x="762000" y="4343400"/>
            <a:ext cx="10668000" cy="762000"/>
          </a:xfrm>
          <a:prstGeom prst="round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391D29-D3D4-D75B-4EAB-18AE46D541B3}"/>
              </a:ext>
            </a:extLst>
          </p:cNvPr>
          <p:cNvSpPr txBox="1"/>
          <p:nvPr/>
        </p:nvSpPr>
        <p:spPr>
          <a:xfrm>
            <a:off x="965200" y="4445000"/>
            <a:ext cx="102616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Operates live APIX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C896B0-5C7A-6CCC-D8AE-A731D83A54BF}"/>
              </a:ext>
            </a:extLst>
          </p:cNvPr>
          <p:cNvSpPr txBox="1"/>
          <p:nvPr/>
        </p:nvSpPr>
        <p:spPr>
          <a:xfrm>
            <a:off x="965200" y="4724400"/>
            <a:ext cx="102616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BECDDC"/>
                </a:solidFill>
                <a:latin typeface="Segoe UI" panose="020B0502040204020203" pitchFamily="34" charset="0"/>
              </a:rPr>
              <a:t>programs (Telesales / WCC / PSO)   .   pipeline runs   .   agent scores   .   cost &amp; telemetry</a:t>
            </a:r>
            <a:endParaRPr lang="en-IN" sz="1200">
              <a:solidFill>
                <a:srgbClr val="BECDDC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592E2-BC7C-AB41-C72E-D1F5F62AD5AC}"/>
              </a:ext>
            </a:extLst>
          </p:cNvPr>
          <p:cNvSpPr txBox="1"/>
          <p:nvPr/>
        </p:nvSpPr>
        <p:spPr>
          <a:xfrm>
            <a:off x="762000" y="5207000"/>
            <a:ext cx="10668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US" sz="1200" b="1">
                <a:solidFill>
                  <a:srgbClr val="122648"/>
                </a:solidFill>
                <a:latin typeface="Segoe UI" panose="020B0502040204020203" pitchFamily="34" charset="0"/>
              </a:rPr>
              <a:t>Every LLMOps capability surfaces here as an operable module - this is the product AFNI sees and uses.</a:t>
            </a:r>
            <a:endParaRPr lang="en-IN" sz="12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54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27770D-7D77-710B-687F-18D6BEBA09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AB8E86-9A88-07EC-B332-AC4615A6553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C81E4-CD92-D22E-D29C-EC406A3FAAC3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Eleven Modules, One Console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30BB0-00CF-EBF6-EACF-F17F71F0F3CF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Each module operates a capability against live APIX data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5F81B-ADC1-078C-768A-CF40A1D95BF4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A8BD5-6505-AD44-EC65-A5DC899B1384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99F8A-F90D-3DD4-B55C-B80F9F6E2DAE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3DCD5F-F320-1D14-B3C0-D39472E51214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07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D27765-9F2B-0E0E-5CCF-736FF1EDB6D2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F7A06-02BD-8C33-29D6-D32A253F4997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The Ops Platform is not a dashboard bolted on - it is how the whole platform is run.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581F2D-5405-8561-A6EF-3798FA635458}"/>
              </a:ext>
            </a:extLst>
          </p:cNvPr>
          <p:cNvSpPr/>
          <p:nvPr/>
        </p:nvSpPr>
        <p:spPr>
          <a:xfrm>
            <a:off x="609600" y="14224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63A50C-5BC2-8B76-AE47-53BEF83EDAA8}"/>
              </a:ext>
            </a:extLst>
          </p:cNvPr>
          <p:cNvSpPr/>
          <p:nvPr/>
        </p:nvSpPr>
        <p:spPr>
          <a:xfrm>
            <a:off x="609600" y="1524000"/>
            <a:ext cx="63500" cy="7366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660908-E567-E254-97DF-B19D908C074B}"/>
              </a:ext>
            </a:extLst>
          </p:cNvPr>
          <p:cNvSpPr/>
          <p:nvPr/>
        </p:nvSpPr>
        <p:spPr>
          <a:xfrm>
            <a:off x="787400" y="1587500"/>
            <a:ext cx="330200" cy="330200"/>
          </a:xfrm>
          <a:prstGeom prst="round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9F1679-353F-88EB-40E7-0FBBAD11D055}"/>
              </a:ext>
            </a:extLst>
          </p:cNvPr>
          <p:cNvSpPr txBox="1"/>
          <p:nvPr/>
        </p:nvSpPr>
        <p:spPr>
          <a:xfrm>
            <a:off x="1244600" y="15621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2A76BE"/>
                </a:solidFill>
                <a:latin typeface="Segoe UI" panose="020B0502040204020203" pitchFamily="34" charset="0"/>
              </a:rPr>
              <a:t>Prompts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7822A-478D-D365-3484-E82A5B2AACAC}"/>
              </a:ext>
            </a:extLst>
          </p:cNvPr>
          <p:cNvSpPr txBox="1"/>
          <p:nvPr/>
        </p:nvSpPr>
        <p:spPr>
          <a:xfrm>
            <a:off x="1244600" y="18542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Version / activate / roll back APIX prompts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DF604C-6849-FDC2-6183-6983CBAD28DC}"/>
              </a:ext>
            </a:extLst>
          </p:cNvPr>
          <p:cNvSpPr/>
          <p:nvPr/>
        </p:nvSpPr>
        <p:spPr>
          <a:xfrm>
            <a:off x="4445000" y="14224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D091CE-9250-D00E-5C38-564903E82921}"/>
              </a:ext>
            </a:extLst>
          </p:cNvPr>
          <p:cNvSpPr/>
          <p:nvPr/>
        </p:nvSpPr>
        <p:spPr>
          <a:xfrm>
            <a:off x="4445000" y="1524000"/>
            <a:ext cx="63500" cy="7366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E778CB-DD0F-7D96-EFA0-3E6F746D5E0A}"/>
              </a:ext>
            </a:extLst>
          </p:cNvPr>
          <p:cNvSpPr/>
          <p:nvPr/>
        </p:nvSpPr>
        <p:spPr>
          <a:xfrm>
            <a:off x="4622800" y="1587500"/>
            <a:ext cx="330200" cy="330200"/>
          </a:xfrm>
          <a:prstGeom prst="round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72241A-AD19-20D0-01A4-EE023030A361}"/>
              </a:ext>
            </a:extLst>
          </p:cNvPr>
          <p:cNvSpPr txBox="1"/>
          <p:nvPr/>
        </p:nvSpPr>
        <p:spPr>
          <a:xfrm>
            <a:off x="5080000" y="15621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2A76BE"/>
                </a:solidFill>
                <a:latin typeface="Segoe UI" panose="020B0502040204020203" pitchFamily="34" charset="0"/>
              </a:rPr>
              <a:t>Models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58FB3F-D01E-AFC8-B403-9A0B94258C2D}"/>
              </a:ext>
            </a:extLst>
          </p:cNvPr>
          <p:cNvSpPr txBox="1"/>
          <p:nvPr/>
        </p:nvSpPr>
        <p:spPr>
          <a:xfrm>
            <a:off x="5080000" y="18542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Aliases, task bindings, version pinning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8FD836F-1AE8-97CB-81F0-476DA0302A9E}"/>
              </a:ext>
            </a:extLst>
          </p:cNvPr>
          <p:cNvSpPr/>
          <p:nvPr/>
        </p:nvSpPr>
        <p:spPr>
          <a:xfrm>
            <a:off x="8280400" y="14224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E3A4C2-DB93-0CE4-27CF-A0B52F681144}"/>
              </a:ext>
            </a:extLst>
          </p:cNvPr>
          <p:cNvSpPr/>
          <p:nvPr/>
        </p:nvSpPr>
        <p:spPr>
          <a:xfrm>
            <a:off x="8280400" y="1524000"/>
            <a:ext cx="63500" cy="736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9214102-CF69-AE25-E6AB-ED259402A76C}"/>
              </a:ext>
            </a:extLst>
          </p:cNvPr>
          <p:cNvSpPr/>
          <p:nvPr/>
        </p:nvSpPr>
        <p:spPr>
          <a:xfrm>
            <a:off x="8458200" y="1587500"/>
            <a:ext cx="330200" cy="3302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30CCC8-0B60-BBA0-4B91-F0511BF95B04}"/>
              </a:ext>
            </a:extLst>
          </p:cNvPr>
          <p:cNvSpPr txBox="1"/>
          <p:nvPr/>
        </p:nvSpPr>
        <p:spPr>
          <a:xfrm>
            <a:off x="8915400" y="15621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16A078"/>
                </a:solidFill>
                <a:latin typeface="Segoe UI" panose="020B0502040204020203" pitchFamily="34" charset="0"/>
              </a:rPr>
              <a:t>Evaluation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708C05-1648-D361-1C68-C4F783C778F5}"/>
              </a:ext>
            </a:extLst>
          </p:cNvPr>
          <p:cNvSpPr txBox="1"/>
          <p:nvPr/>
        </p:nvSpPr>
        <p:spPr>
          <a:xfrm>
            <a:off x="8915400" y="18542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Run scorecards, thresholds, promote / block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574C443-6E36-56E9-281A-976EEE5D54C4}"/>
              </a:ext>
            </a:extLst>
          </p:cNvPr>
          <p:cNvSpPr/>
          <p:nvPr/>
        </p:nvSpPr>
        <p:spPr>
          <a:xfrm>
            <a:off x="609600" y="25146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8421EB-8446-0BB4-4F3E-9009F2F3CA9F}"/>
              </a:ext>
            </a:extLst>
          </p:cNvPr>
          <p:cNvSpPr/>
          <p:nvPr/>
        </p:nvSpPr>
        <p:spPr>
          <a:xfrm>
            <a:off x="609600" y="2616200"/>
            <a:ext cx="63500" cy="736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DF0D249-6BC7-09DA-E827-59E53AFB2CFA}"/>
              </a:ext>
            </a:extLst>
          </p:cNvPr>
          <p:cNvSpPr/>
          <p:nvPr/>
        </p:nvSpPr>
        <p:spPr>
          <a:xfrm>
            <a:off x="787400" y="2679700"/>
            <a:ext cx="330200" cy="3302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CE3D13-988A-63D9-5A5E-17727C4E8866}"/>
              </a:ext>
            </a:extLst>
          </p:cNvPr>
          <p:cNvSpPr txBox="1"/>
          <p:nvPr/>
        </p:nvSpPr>
        <p:spPr>
          <a:xfrm>
            <a:off x="1244600" y="26543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16A078"/>
                </a:solidFill>
                <a:latin typeface="Segoe UI" panose="020B0502040204020203" pitchFamily="34" charset="0"/>
              </a:rPr>
              <a:t>Playground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53FD20-E913-E18E-2934-FC63BE1281F5}"/>
              </a:ext>
            </a:extLst>
          </p:cNvPr>
          <p:cNvSpPr txBox="1"/>
          <p:nvPr/>
        </p:nvSpPr>
        <p:spPr>
          <a:xfrm>
            <a:off x="1244600" y="2946400"/>
            <a:ext cx="28956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606A7A"/>
                </a:solidFill>
                <a:latin typeface="Segoe UI" panose="020B0502040204020203" pitchFamily="34" charset="0"/>
              </a:rPr>
              <a:t>Compare prompt + model combos, no prod impact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A76A08A-E7F0-9D4D-30DF-851A725C138B}"/>
              </a:ext>
            </a:extLst>
          </p:cNvPr>
          <p:cNvSpPr/>
          <p:nvPr/>
        </p:nvSpPr>
        <p:spPr>
          <a:xfrm>
            <a:off x="4445000" y="25146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3D1864-BA38-5DE3-A937-0D73E1919F2B}"/>
              </a:ext>
            </a:extLst>
          </p:cNvPr>
          <p:cNvSpPr/>
          <p:nvPr/>
        </p:nvSpPr>
        <p:spPr>
          <a:xfrm>
            <a:off x="4445000" y="2616200"/>
            <a:ext cx="63500" cy="7366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5C76E1C-1CE5-50FB-78EE-BC49003807E2}"/>
              </a:ext>
            </a:extLst>
          </p:cNvPr>
          <p:cNvSpPr/>
          <p:nvPr/>
        </p:nvSpPr>
        <p:spPr>
          <a:xfrm>
            <a:off x="4622800" y="2679700"/>
            <a:ext cx="330200" cy="3302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F655A6-4D60-81E3-73AB-9419CCB7DF91}"/>
              </a:ext>
            </a:extLst>
          </p:cNvPr>
          <p:cNvSpPr txBox="1"/>
          <p:nvPr/>
        </p:nvSpPr>
        <p:spPr>
          <a:xfrm>
            <a:off x="5080000" y="26543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009EA8"/>
                </a:solidFill>
                <a:latin typeface="Segoe UI" panose="020B0502040204020203" pitchFamily="34" charset="0"/>
              </a:rPr>
              <a:t>Golden 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73C582-21B6-73C2-340A-BCBAFCA52373}"/>
              </a:ext>
            </a:extLst>
          </p:cNvPr>
          <p:cNvSpPr txBox="1"/>
          <p:nvPr/>
        </p:nvSpPr>
        <p:spPr>
          <a:xfrm>
            <a:off x="5080000" y="29464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606A7A"/>
                </a:solidFill>
                <a:latin typeface="Segoe UI" panose="020B0502040204020203" pitchFamily="34" charset="0"/>
              </a:rPr>
              <a:t>Certify &amp; version per-program golden sets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CAF407A-BFFB-A39C-B6D9-3A19F1B101F8}"/>
              </a:ext>
            </a:extLst>
          </p:cNvPr>
          <p:cNvSpPr/>
          <p:nvPr/>
        </p:nvSpPr>
        <p:spPr>
          <a:xfrm>
            <a:off x="8280400" y="25146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BE5806F-5E44-13EE-4E93-6CB9B8136275}"/>
              </a:ext>
            </a:extLst>
          </p:cNvPr>
          <p:cNvSpPr/>
          <p:nvPr/>
        </p:nvSpPr>
        <p:spPr>
          <a:xfrm>
            <a:off x="8280400" y="2616200"/>
            <a:ext cx="63500" cy="736600"/>
          </a:xfrm>
          <a:prstGeom prst="rect">
            <a:avLst/>
          </a:prstGeom>
          <a:solidFill>
            <a:srgbClr val="8C55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917EA7F-E861-0CAB-59B5-E134801FC75F}"/>
              </a:ext>
            </a:extLst>
          </p:cNvPr>
          <p:cNvSpPr/>
          <p:nvPr/>
        </p:nvSpPr>
        <p:spPr>
          <a:xfrm>
            <a:off x="8458200" y="2679700"/>
            <a:ext cx="330200" cy="330200"/>
          </a:xfrm>
          <a:prstGeom prst="roundRect">
            <a:avLst/>
          </a:prstGeom>
          <a:solidFill>
            <a:srgbClr val="8C55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40504B-DB90-9AA7-A9D3-75CEC11C9FFE}"/>
              </a:ext>
            </a:extLst>
          </p:cNvPr>
          <p:cNvSpPr txBox="1"/>
          <p:nvPr/>
        </p:nvSpPr>
        <p:spPr>
          <a:xfrm>
            <a:off x="8915400" y="26543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8C55AF"/>
                </a:solidFill>
                <a:latin typeface="Segoe UI" panose="020B0502040204020203" pitchFamily="34" charset="0"/>
              </a:rPr>
              <a:t>Guardrails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A430E5-434C-7F7C-2B30-35AB7626C536}"/>
              </a:ext>
            </a:extLst>
          </p:cNvPr>
          <p:cNvSpPr txBox="1"/>
          <p:nvPr/>
        </p:nvSpPr>
        <p:spPr>
          <a:xfrm>
            <a:off x="8915400" y="29464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Per-category policy + live flag activity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78B567C-A8CF-7442-924A-DCCAD37785D5}"/>
              </a:ext>
            </a:extLst>
          </p:cNvPr>
          <p:cNvSpPr/>
          <p:nvPr/>
        </p:nvSpPr>
        <p:spPr>
          <a:xfrm>
            <a:off x="609600" y="36068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2E5D8E-D403-A3D5-9D60-4E588FB14B2A}"/>
              </a:ext>
            </a:extLst>
          </p:cNvPr>
          <p:cNvSpPr/>
          <p:nvPr/>
        </p:nvSpPr>
        <p:spPr>
          <a:xfrm>
            <a:off x="609600" y="3708400"/>
            <a:ext cx="63500" cy="7366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A587214-8DA0-34D4-D366-F13D7CA190C3}"/>
              </a:ext>
            </a:extLst>
          </p:cNvPr>
          <p:cNvSpPr/>
          <p:nvPr/>
        </p:nvSpPr>
        <p:spPr>
          <a:xfrm>
            <a:off x="787400" y="3771900"/>
            <a:ext cx="330200" cy="3302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BFD377-7AB4-92EF-9BE2-2552FA392FBA}"/>
              </a:ext>
            </a:extLst>
          </p:cNvPr>
          <p:cNvSpPr txBox="1"/>
          <p:nvPr/>
        </p:nvSpPr>
        <p:spPr>
          <a:xfrm>
            <a:off x="1244600" y="37465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009EA8"/>
                </a:solidFill>
                <a:latin typeface="Segoe UI" panose="020B0502040204020203" pitchFamily="34" charset="0"/>
              </a:rPr>
              <a:t>Monitoring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086AAE-940E-9CB9-F568-C18E287A388F}"/>
              </a:ext>
            </a:extLst>
          </p:cNvPr>
          <p:cNvSpPr txBox="1"/>
          <p:nvPr/>
        </p:nvSpPr>
        <p:spPr>
          <a:xfrm>
            <a:off x="1244600" y="40386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Cost per program, latency, errors, alerts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C1522BC-E62A-1078-8C62-CE1307E97376}"/>
              </a:ext>
            </a:extLst>
          </p:cNvPr>
          <p:cNvSpPr/>
          <p:nvPr/>
        </p:nvSpPr>
        <p:spPr>
          <a:xfrm>
            <a:off x="4445000" y="36068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062429-9167-A549-CB81-5CD83C1D56BC}"/>
              </a:ext>
            </a:extLst>
          </p:cNvPr>
          <p:cNvSpPr/>
          <p:nvPr/>
        </p:nvSpPr>
        <p:spPr>
          <a:xfrm>
            <a:off x="4445000" y="3708400"/>
            <a:ext cx="63500" cy="736600"/>
          </a:xfrm>
          <a:prstGeom prst="rect">
            <a:avLst/>
          </a:prstGeom>
          <a:solidFill>
            <a:srgbClr val="8C55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8D355C2-6B0D-F916-1CFB-BF2AC395A1F4}"/>
              </a:ext>
            </a:extLst>
          </p:cNvPr>
          <p:cNvSpPr/>
          <p:nvPr/>
        </p:nvSpPr>
        <p:spPr>
          <a:xfrm>
            <a:off x="4622800" y="3771900"/>
            <a:ext cx="330200" cy="330200"/>
          </a:xfrm>
          <a:prstGeom prst="roundRect">
            <a:avLst/>
          </a:prstGeom>
          <a:solidFill>
            <a:srgbClr val="8C55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C0A564-BCC5-DE3D-9052-755F9B25644E}"/>
              </a:ext>
            </a:extLst>
          </p:cNvPr>
          <p:cNvSpPr txBox="1"/>
          <p:nvPr/>
        </p:nvSpPr>
        <p:spPr>
          <a:xfrm>
            <a:off x="5080000" y="37465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8C55AF"/>
                </a:solidFill>
                <a:latin typeface="Segoe UI" panose="020B0502040204020203" pitchFamily="34" charset="0"/>
              </a:rPr>
              <a:t>Feedback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D5071A-77B1-0AE6-E288-AD8F610F8692}"/>
              </a:ext>
            </a:extLst>
          </p:cNvPr>
          <p:cNvSpPr txBox="1"/>
          <p:nvPr/>
        </p:nvSpPr>
        <p:spPr>
          <a:xfrm>
            <a:off x="5080000" y="40386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Triage coach corrections into golden data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17192BE-DD3D-814A-82A5-99C86AF0E884}"/>
              </a:ext>
            </a:extLst>
          </p:cNvPr>
          <p:cNvSpPr/>
          <p:nvPr/>
        </p:nvSpPr>
        <p:spPr>
          <a:xfrm>
            <a:off x="8280400" y="36068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3955D6E-5F44-1484-D061-5BDA0040BBDA}"/>
              </a:ext>
            </a:extLst>
          </p:cNvPr>
          <p:cNvSpPr/>
          <p:nvPr/>
        </p:nvSpPr>
        <p:spPr>
          <a:xfrm>
            <a:off x="8280400" y="3708400"/>
            <a:ext cx="63500" cy="7366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E5ACF3E-E15C-FB60-787C-47E24F796FD1}"/>
              </a:ext>
            </a:extLst>
          </p:cNvPr>
          <p:cNvSpPr/>
          <p:nvPr/>
        </p:nvSpPr>
        <p:spPr>
          <a:xfrm>
            <a:off x="8458200" y="3771900"/>
            <a:ext cx="330200" cy="330200"/>
          </a:xfrm>
          <a:prstGeom prst="round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C2AD1E-9E57-6FF4-CC56-DF1048A92508}"/>
              </a:ext>
            </a:extLst>
          </p:cNvPr>
          <p:cNvSpPr txBox="1"/>
          <p:nvPr/>
        </p:nvSpPr>
        <p:spPr>
          <a:xfrm>
            <a:off x="8915400" y="37465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122648"/>
                </a:solidFill>
                <a:latin typeface="Segoe UI" panose="020B0502040204020203" pitchFamily="34" charset="0"/>
              </a:rPr>
              <a:t>Access &amp; Roles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44D518-E87F-9A4C-C152-88C58F8D16A1}"/>
              </a:ext>
            </a:extLst>
          </p:cNvPr>
          <p:cNvSpPr txBox="1"/>
          <p:nvPr/>
        </p:nvSpPr>
        <p:spPr>
          <a:xfrm>
            <a:off x="8915400" y="40386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it-IT" sz="1000">
                <a:solidFill>
                  <a:srgbClr val="606A7A"/>
                </a:solidFill>
                <a:latin typeface="Segoe UI" panose="020B0502040204020203" pitchFamily="34" charset="0"/>
              </a:rPr>
              <a:t>Entra SSO, RBAC, scoped visibility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C8303EA-FFBA-8874-8092-D743412FF91B}"/>
              </a:ext>
            </a:extLst>
          </p:cNvPr>
          <p:cNvSpPr/>
          <p:nvPr/>
        </p:nvSpPr>
        <p:spPr>
          <a:xfrm>
            <a:off x="609600" y="46990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634A46-FAC1-6A32-7404-62AE1A224575}"/>
              </a:ext>
            </a:extLst>
          </p:cNvPr>
          <p:cNvSpPr/>
          <p:nvPr/>
        </p:nvSpPr>
        <p:spPr>
          <a:xfrm>
            <a:off x="609600" y="4800600"/>
            <a:ext cx="63500" cy="7366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75DA0E9-E010-802B-2A8B-DCA3AD8AFA83}"/>
              </a:ext>
            </a:extLst>
          </p:cNvPr>
          <p:cNvSpPr/>
          <p:nvPr/>
        </p:nvSpPr>
        <p:spPr>
          <a:xfrm>
            <a:off x="787400" y="4864100"/>
            <a:ext cx="330200" cy="330200"/>
          </a:xfrm>
          <a:prstGeom prst="round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7B6589-0873-9F76-1C3F-96DDBDE480AE}"/>
              </a:ext>
            </a:extLst>
          </p:cNvPr>
          <p:cNvSpPr txBox="1"/>
          <p:nvPr/>
        </p:nvSpPr>
        <p:spPr>
          <a:xfrm>
            <a:off x="1244600" y="48387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CD8712"/>
                </a:solidFill>
                <a:latin typeface="Segoe UI" panose="020B0502040204020203" pitchFamily="34" charset="0"/>
              </a:rPr>
              <a:t>APIX Ops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8C1302-ADC3-88B2-FCF4-D2FF02CE429C}"/>
              </a:ext>
            </a:extLst>
          </p:cNvPr>
          <p:cNvSpPr txBox="1"/>
          <p:nvPr/>
        </p:nvSpPr>
        <p:spPr>
          <a:xfrm>
            <a:off x="1244600" y="51308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pt-BR" sz="1000">
                <a:solidFill>
                  <a:srgbClr val="606A7A"/>
                </a:solidFill>
                <a:latin typeface="Segoe UI" panose="020B0502040204020203" pitchFamily="34" charset="0"/>
              </a:rPr>
              <a:t>Trigger / monitor runs, program config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4E9E0D8-6F7A-D61A-3B1C-F01A8D6CD3F7}"/>
              </a:ext>
            </a:extLst>
          </p:cNvPr>
          <p:cNvSpPr/>
          <p:nvPr/>
        </p:nvSpPr>
        <p:spPr>
          <a:xfrm>
            <a:off x="4445000" y="4699000"/>
            <a:ext cx="3657600" cy="939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933CC42-B9D4-4F02-A4B5-75694E66C946}"/>
              </a:ext>
            </a:extLst>
          </p:cNvPr>
          <p:cNvSpPr/>
          <p:nvPr/>
        </p:nvSpPr>
        <p:spPr>
          <a:xfrm>
            <a:off x="4445000" y="4800600"/>
            <a:ext cx="63500" cy="7366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9581EADE-008B-3112-2D78-329450E93BA1}"/>
              </a:ext>
            </a:extLst>
          </p:cNvPr>
          <p:cNvSpPr/>
          <p:nvPr/>
        </p:nvSpPr>
        <p:spPr>
          <a:xfrm>
            <a:off x="4622800" y="4864100"/>
            <a:ext cx="330200" cy="330200"/>
          </a:xfrm>
          <a:prstGeom prst="round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1AFB77-516F-E978-ACAC-8305F1EB6F88}"/>
              </a:ext>
            </a:extLst>
          </p:cNvPr>
          <p:cNvSpPr txBox="1"/>
          <p:nvPr/>
        </p:nvSpPr>
        <p:spPr>
          <a:xfrm>
            <a:off x="5080000" y="4838700"/>
            <a:ext cx="2895600" cy="2410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400" b="1">
                <a:solidFill>
                  <a:srgbClr val="122648"/>
                </a:solidFill>
                <a:latin typeface="Segoe UI" panose="020B0502040204020203" pitchFamily="34" charset="0"/>
              </a:rPr>
              <a:t>Governance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C5B26D-7C9A-E469-4851-60624EFE0329}"/>
              </a:ext>
            </a:extLst>
          </p:cNvPr>
          <p:cNvSpPr txBox="1"/>
          <p:nvPr/>
        </p:nvSpPr>
        <p:spPr>
          <a:xfrm>
            <a:off x="5080000" y="5130800"/>
            <a:ext cx="2895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Approvals + audit, reconstruct any score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134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020E4A-ABB6-C3C3-5634-A394FA4D7F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42801-A3AC-2650-BB88-5E7FEC58EAD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D97C27-B143-BAA3-89A6-A2C51F8E875E}"/>
              </a:ext>
            </a:extLst>
          </p:cNvPr>
          <p:cNvSpPr/>
          <p:nvPr/>
        </p:nvSpPr>
        <p:spPr>
          <a:xfrm>
            <a:off x="304800" y="152400"/>
            <a:ext cx="508000" cy="508000"/>
          </a:xfrm>
          <a:prstGeom prst="round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3F78A-4CA2-319A-20C7-2EC61AFA7FF7}"/>
              </a:ext>
            </a:extLst>
          </p:cNvPr>
          <p:cNvSpPr txBox="1"/>
          <p:nvPr/>
        </p:nvSpPr>
        <p:spPr>
          <a:xfrm>
            <a:off x="965200" y="114300"/>
            <a:ext cx="8636000" cy="3488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100" b="1">
                <a:solidFill>
                  <a:srgbClr val="FFFFFF"/>
                </a:solidFill>
                <a:latin typeface="Segoe UI" panose="020B0502040204020203" pitchFamily="34" charset="0"/>
              </a:rPr>
              <a:t>Prompt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E6F736-02EC-EE92-4145-23EA73520A58}"/>
              </a:ext>
            </a:extLst>
          </p:cNvPr>
          <p:cNvSpPr txBox="1"/>
          <p:nvPr/>
        </p:nvSpPr>
        <p:spPr>
          <a:xfrm>
            <a:off x="990600" y="482600"/>
            <a:ext cx="863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Version prompts; change them without a code deploy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AC70CE-E699-37D1-8025-A9369DA6A20B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A05DAB-831E-F454-1165-923A9DABF184}"/>
              </a:ext>
            </a:extLst>
          </p:cNvPr>
          <p:cNvSpPr/>
          <p:nvPr/>
        </p:nvSpPr>
        <p:spPr>
          <a:xfrm>
            <a:off x="10287000" y="203200"/>
            <a:ext cx="1498600" cy="4064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910B64-6787-61A0-8193-4AA17D3E07DB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666CF-BB8D-C42D-5C39-C0B819ABB25C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68458F-AA44-A344-2C82-9246FCDE6DC4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08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535EA3-C8E6-3038-7C02-B96337B2C02C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4CA021-2AA1-7156-5BDB-9B151DD44FBF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The system of record for every prompt - versioned, auditable, and changeable without shipping code. Colour = sentiment at a glance.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464F37-4CF8-451A-80B5-0B45EE1BF54E}"/>
              </a:ext>
            </a:extLst>
          </p:cNvPr>
          <p:cNvSpPr txBox="1"/>
          <p:nvPr/>
        </p:nvSpPr>
        <p:spPr>
          <a:xfrm>
            <a:off x="609600" y="1320800"/>
            <a:ext cx="8636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122648"/>
                </a:solidFill>
                <a:latin typeface="Segoe UI" panose="020B0502040204020203" pitchFamily="34" charset="0"/>
              </a:rPr>
              <a:t>Three registry options  (ruled out: in-code, YAML, third-party)</a:t>
            </a:r>
            <a:endParaRPr lang="en-IN" sz="13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ACFF5E-ADD8-6858-4527-70A4728449FF}"/>
              </a:ext>
            </a:extLst>
          </p:cNvPr>
          <p:cNvSpPr/>
          <p:nvPr/>
        </p:nvSpPr>
        <p:spPr>
          <a:xfrm>
            <a:off x="609600" y="1651000"/>
            <a:ext cx="2387600" cy="3556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Variable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EB6A5C-DCFA-82C9-2EB7-1C538D70CE7C}"/>
              </a:ext>
            </a:extLst>
          </p:cNvPr>
          <p:cNvSpPr/>
          <p:nvPr/>
        </p:nvSpPr>
        <p:spPr>
          <a:xfrm>
            <a:off x="2997200" y="1651000"/>
            <a:ext cx="2946400" cy="3556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A. JSON in-repo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BA2E45-56F4-9101-4066-4EEC550AB269}"/>
              </a:ext>
            </a:extLst>
          </p:cNvPr>
          <p:cNvSpPr/>
          <p:nvPr/>
        </p:nvSpPr>
        <p:spPr>
          <a:xfrm>
            <a:off x="5943600" y="1651000"/>
            <a:ext cx="2946400" cy="3556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B. Cosmos DB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AAE3C8-9A4A-004B-1F97-24DBF3D7EAF6}"/>
              </a:ext>
            </a:extLst>
          </p:cNvPr>
          <p:cNvSpPr/>
          <p:nvPr/>
        </p:nvSpPr>
        <p:spPr>
          <a:xfrm>
            <a:off x="8890000" y="1651000"/>
            <a:ext cx="2692400" cy="3556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C. Foundry Prompt Flow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228230-E8B8-7458-3F95-D72FEFBAA974}"/>
              </a:ext>
            </a:extLst>
          </p:cNvPr>
          <p:cNvSpPr/>
          <p:nvPr/>
        </p:nvSpPr>
        <p:spPr>
          <a:xfrm>
            <a:off x="609600" y="2006600"/>
            <a:ext cx="2387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Change without redeploy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79276A-9BFD-BB0D-6A5A-7E8F50EDD593}"/>
              </a:ext>
            </a:extLst>
          </p:cNvPr>
          <p:cNvSpPr/>
          <p:nvPr/>
        </p:nvSpPr>
        <p:spPr>
          <a:xfrm>
            <a:off x="2997200" y="2006600"/>
            <a:ext cx="2946400" cy="355600"/>
          </a:xfrm>
          <a:prstGeom prst="rect">
            <a:avLst/>
          </a:prstGeom>
          <a:solidFill>
            <a:srgbClr val="FAE2E2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No (git push)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0D1B45-FD5A-2960-277A-C3E9D33CA436}"/>
              </a:ext>
            </a:extLst>
          </p:cNvPr>
          <p:cNvSpPr/>
          <p:nvPr/>
        </p:nvSpPr>
        <p:spPr>
          <a:xfrm>
            <a:off x="5943600" y="2006600"/>
            <a:ext cx="2946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Yes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E509F7-2146-0660-6E1E-A1C0765C822B}"/>
              </a:ext>
            </a:extLst>
          </p:cNvPr>
          <p:cNvSpPr/>
          <p:nvPr/>
        </p:nvSpPr>
        <p:spPr>
          <a:xfrm>
            <a:off x="8890000" y="2006600"/>
            <a:ext cx="2692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Yes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B8CE46-247F-47D5-A0D0-85D51E131C41}"/>
              </a:ext>
            </a:extLst>
          </p:cNvPr>
          <p:cNvSpPr/>
          <p:nvPr/>
        </p:nvSpPr>
        <p:spPr>
          <a:xfrm>
            <a:off x="609600" y="2362200"/>
            <a:ext cx="2387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Versioning / rollback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C1AC85-FD70-662B-6DB0-8A1EA31033CA}"/>
              </a:ext>
            </a:extLst>
          </p:cNvPr>
          <p:cNvSpPr/>
          <p:nvPr/>
        </p:nvSpPr>
        <p:spPr>
          <a:xfrm>
            <a:off x="2997200" y="2362200"/>
            <a:ext cx="2946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Git history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6DB3CE-71A9-8302-ADEC-7811EBD9D761}"/>
              </a:ext>
            </a:extLst>
          </p:cNvPr>
          <p:cNvSpPr/>
          <p:nvPr/>
        </p:nvSpPr>
        <p:spPr>
          <a:xfrm>
            <a:off x="5943600" y="2362200"/>
            <a:ext cx="2946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Doc version + flag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24B110-EB01-97B7-D1C2-2226A943F5E1}"/>
              </a:ext>
            </a:extLst>
          </p:cNvPr>
          <p:cNvSpPr/>
          <p:nvPr/>
        </p:nvSpPr>
        <p:spPr>
          <a:xfrm>
            <a:off x="8890000" y="2362200"/>
            <a:ext cx="2692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Managed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5DAFB7-30C8-DEAE-1AFA-C84EA04518F5}"/>
              </a:ext>
            </a:extLst>
          </p:cNvPr>
          <p:cNvSpPr/>
          <p:nvPr/>
        </p:nvSpPr>
        <p:spPr>
          <a:xfrm>
            <a:off x="609600" y="2717800"/>
            <a:ext cx="2387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Non-engineer editing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255CF2-45E1-195B-0C6B-18718A445F9F}"/>
              </a:ext>
            </a:extLst>
          </p:cNvPr>
          <p:cNvSpPr/>
          <p:nvPr/>
        </p:nvSpPr>
        <p:spPr>
          <a:xfrm>
            <a:off x="2997200" y="2717800"/>
            <a:ext cx="2946400" cy="355600"/>
          </a:xfrm>
          <a:prstGeom prst="rect">
            <a:avLst/>
          </a:prstGeom>
          <a:solidFill>
            <a:srgbClr val="FAE2E2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Technical only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622D34-49A5-3741-D6AB-5CD0A966C22D}"/>
              </a:ext>
            </a:extLst>
          </p:cNvPr>
          <p:cNvSpPr/>
          <p:nvPr/>
        </p:nvSpPr>
        <p:spPr>
          <a:xfrm>
            <a:off x="5943600" y="2717800"/>
            <a:ext cx="2946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Via admin UI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69C077-8CC0-E21F-5023-3C83CE193A59}"/>
              </a:ext>
            </a:extLst>
          </p:cNvPr>
          <p:cNvSpPr/>
          <p:nvPr/>
        </p:nvSpPr>
        <p:spPr>
          <a:xfrm>
            <a:off x="8890000" y="2717800"/>
            <a:ext cx="2692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Studio UI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839F58-CD09-14E9-279C-3EF100BB69AE}"/>
              </a:ext>
            </a:extLst>
          </p:cNvPr>
          <p:cNvSpPr/>
          <p:nvPr/>
        </p:nvSpPr>
        <p:spPr>
          <a:xfrm>
            <a:off x="609600" y="3073400"/>
            <a:ext cx="2387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Built-in evaluation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5FFB24-524F-1850-762D-C65C92D5D88F}"/>
              </a:ext>
            </a:extLst>
          </p:cNvPr>
          <p:cNvSpPr/>
          <p:nvPr/>
        </p:nvSpPr>
        <p:spPr>
          <a:xfrm>
            <a:off x="2997200" y="3073400"/>
            <a:ext cx="2946400" cy="355600"/>
          </a:xfrm>
          <a:prstGeom prst="rect">
            <a:avLst/>
          </a:prstGeom>
          <a:solidFill>
            <a:srgbClr val="FAE2E2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Build 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DCC44B-8AF3-DD7E-05B6-0D7C69D279F0}"/>
              </a:ext>
            </a:extLst>
          </p:cNvPr>
          <p:cNvSpPr/>
          <p:nvPr/>
        </p:nvSpPr>
        <p:spPr>
          <a:xfrm>
            <a:off x="5943600" y="3073400"/>
            <a:ext cx="2946400" cy="355600"/>
          </a:xfrm>
          <a:prstGeom prst="rect">
            <a:avLst/>
          </a:prstGeom>
          <a:solidFill>
            <a:srgbClr val="FAE2E2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Build 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5B4645-7D90-1049-3681-DFD20CA44AC2}"/>
              </a:ext>
            </a:extLst>
          </p:cNvPr>
          <p:cNvSpPr/>
          <p:nvPr/>
        </p:nvSpPr>
        <p:spPr>
          <a:xfrm>
            <a:off x="8890000" y="3073400"/>
            <a:ext cx="2692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Native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7B64F9-4083-5918-801F-E7990F451FFB}"/>
              </a:ext>
            </a:extLst>
          </p:cNvPr>
          <p:cNvSpPr/>
          <p:nvPr/>
        </p:nvSpPr>
        <p:spPr>
          <a:xfrm>
            <a:off x="609600" y="3429000"/>
            <a:ext cx="2387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Output version stamping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4B1EA9-BF2A-09D5-783B-DE495DD1110B}"/>
              </a:ext>
            </a:extLst>
          </p:cNvPr>
          <p:cNvSpPr/>
          <p:nvPr/>
        </p:nvSpPr>
        <p:spPr>
          <a:xfrm>
            <a:off x="2997200" y="3429000"/>
            <a:ext cx="2946400" cy="355600"/>
          </a:xfrm>
          <a:prstGeom prst="rect">
            <a:avLst/>
          </a:prstGeom>
          <a:solidFill>
            <a:srgbClr val="FCF3D6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Manual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28911A-CA39-BA52-92EA-FC8958464062}"/>
              </a:ext>
            </a:extLst>
          </p:cNvPr>
          <p:cNvSpPr/>
          <p:nvPr/>
        </p:nvSpPr>
        <p:spPr>
          <a:xfrm>
            <a:off x="5943600" y="3429000"/>
            <a:ext cx="2946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Easy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A3E599-66EC-7057-2F00-F37D7C044EA2}"/>
              </a:ext>
            </a:extLst>
          </p:cNvPr>
          <p:cNvSpPr/>
          <p:nvPr/>
        </p:nvSpPr>
        <p:spPr>
          <a:xfrm>
            <a:off x="8890000" y="3429000"/>
            <a:ext cx="2692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Native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F6297E-0FA7-1F1D-9E00-6FA6CDFB66A9}"/>
              </a:ext>
            </a:extLst>
          </p:cNvPr>
          <p:cNvSpPr/>
          <p:nvPr/>
        </p:nvSpPr>
        <p:spPr>
          <a:xfrm>
            <a:off x="609600" y="3784600"/>
            <a:ext cx="2387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Build / maintenance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B8387E-F2C4-4C32-CE8F-2FFD05C87029}"/>
              </a:ext>
            </a:extLst>
          </p:cNvPr>
          <p:cNvSpPr/>
          <p:nvPr/>
        </p:nvSpPr>
        <p:spPr>
          <a:xfrm>
            <a:off x="2997200" y="3784600"/>
            <a:ext cx="2946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Low / Low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7329F4-9A5D-8B75-C178-6F60FDFC6EF2}"/>
              </a:ext>
            </a:extLst>
          </p:cNvPr>
          <p:cNvSpPr/>
          <p:nvPr/>
        </p:nvSpPr>
        <p:spPr>
          <a:xfrm>
            <a:off x="5943600" y="3784600"/>
            <a:ext cx="2946400" cy="355600"/>
          </a:xfrm>
          <a:prstGeom prst="rect">
            <a:avLst/>
          </a:prstGeom>
          <a:solidFill>
            <a:srgbClr val="FAE2E2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High / we own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0911B4-550E-9572-1257-C1EFDD5B50A1}"/>
              </a:ext>
            </a:extLst>
          </p:cNvPr>
          <p:cNvSpPr/>
          <p:nvPr/>
        </p:nvSpPr>
        <p:spPr>
          <a:xfrm>
            <a:off x="8890000" y="3784600"/>
            <a:ext cx="2692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Low / Azure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3464BF8-EFD3-8FA4-879B-0C5493B17DDA}"/>
              </a:ext>
            </a:extLst>
          </p:cNvPr>
          <p:cNvSpPr/>
          <p:nvPr/>
        </p:nvSpPr>
        <p:spPr>
          <a:xfrm>
            <a:off x="609600" y="4140200"/>
            <a:ext cx="2387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Cost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822A275-A7A4-B20F-59A6-03D33C10009A}"/>
              </a:ext>
            </a:extLst>
          </p:cNvPr>
          <p:cNvSpPr/>
          <p:nvPr/>
        </p:nvSpPr>
        <p:spPr>
          <a:xfrm>
            <a:off x="2997200" y="4140200"/>
            <a:ext cx="2946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Free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211ADB1-117D-56DA-3816-183383AEA03E}"/>
              </a:ext>
            </a:extLst>
          </p:cNvPr>
          <p:cNvSpPr/>
          <p:nvPr/>
        </p:nvSpPr>
        <p:spPr>
          <a:xfrm>
            <a:off x="5943600" y="4140200"/>
            <a:ext cx="2946400" cy="355600"/>
          </a:xfrm>
          <a:prstGeom prst="rect">
            <a:avLst/>
          </a:prstGeom>
          <a:solidFill>
            <a:srgbClr val="FCF3D6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Cosmos usage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E9E902-4D48-0FED-563A-B2F4D8F535FA}"/>
              </a:ext>
            </a:extLst>
          </p:cNvPr>
          <p:cNvSpPr/>
          <p:nvPr/>
        </p:nvSpPr>
        <p:spPr>
          <a:xfrm>
            <a:off x="8890000" y="4140200"/>
            <a:ext cx="2692400" cy="355600"/>
          </a:xfrm>
          <a:prstGeom prst="rect">
            <a:avLst/>
          </a:prstGeom>
          <a:solidFill>
            <a:srgbClr val="FCF3D6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Azure usage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DD2FA7-82AB-7E34-F30D-B0A0D52D96DF}"/>
              </a:ext>
            </a:extLst>
          </p:cNvPr>
          <p:cNvSpPr/>
          <p:nvPr/>
        </p:nvSpPr>
        <p:spPr>
          <a:xfrm>
            <a:off x="609600" y="4495800"/>
            <a:ext cx="2387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Lock-in risk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1C6795D-9A82-8213-B237-09421ED59C42}"/>
              </a:ext>
            </a:extLst>
          </p:cNvPr>
          <p:cNvSpPr/>
          <p:nvPr/>
        </p:nvSpPr>
        <p:spPr>
          <a:xfrm>
            <a:off x="2997200" y="4495800"/>
            <a:ext cx="2946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965F79A-9AE6-4C27-9778-CB6C9135FFDC}"/>
              </a:ext>
            </a:extLst>
          </p:cNvPr>
          <p:cNvSpPr/>
          <p:nvPr/>
        </p:nvSpPr>
        <p:spPr>
          <a:xfrm>
            <a:off x="5943600" y="4495800"/>
            <a:ext cx="2946400" cy="3556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A1FC85-B4EB-F341-3032-9C43472CFBC9}"/>
              </a:ext>
            </a:extLst>
          </p:cNvPr>
          <p:cNvSpPr/>
          <p:nvPr/>
        </p:nvSpPr>
        <p:spPr>
          <a:xfrm>
            <a:off x="8890000" y="4495800"/>
            <a:ext cx="2692400" cy="355600"/>
          </a:xfrm>
          <a:prstGeom prst="rect">
            <a:avLst/>
          </a:prstGeom>
          <a:solidFill>
            <a:srgbClr val="FCF3D6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Medium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5981438-D429-0992-0B79-384F2B7C55D5}"/>
              </a:ext>
            </a:extLst>
          </p:cNvPr>
          <p:cNvSpPr/>
          <p:nvPr/>
        </p:nvSpPr>
        <p:spPr>
          <a:xfrm>
            <a:off x="609600" y="4953000"/>
            <a:ext cx="109728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C15E67-2451-3DAE-B55D-1F518AB3AF17}"/>
              </a:ext>
            </a:extLst>
          </p:cNvPr>
          <p:cNvSpPr/>
          <p:nvPr/>
        </p:nvSpPr>
        <p:spPr>
          <a:xfrm>
            <a:off x="609600" y="5054600"/>
            <a:ext cx="63500" cy="5334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BD2E1B-DD0A-4547-0C42-EBE498F7357F}"/>
              </a:ext>
            </a:extLst>
          </p:cNvPr>
          <p:cNvSpPr txBox="1"/>
          <p:nvPr/>
        </p:nvSpPr>
        <p:spPr>
          <a:xfrm>
            <a:off x="838200" y="5029200"/>
            <a:ext cx="2032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CD8712"/>
                </a:solidFill>
                <a:latin typeface="Segoe UI" panose="020B0502040204020203" pitchFamily="34" charset="0"/>
              </a:rPr>
              <a:t>Cost reality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CF64DF-C95C-DFB5-AB39-E686F05A481D}"/>
              </a:ext>
            </a:extLst>
          </p:cNvPr>
          <p:cNvSpPr txBox="1"/>
          <p:nvPr/>
        </p:nvSpPr>
        <p:spPr>
          <a:xfrm>
            <a:off x="838200" y="5308600"/>
            <a:ext cx="3302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>
                <a:solidFill>
                  <a:srgbClr val="606A7A"/>
                </a:solidFill>
                <a:latin typeface="Segoe UI" panose="020B0502040204020203" pitchFamily="34" charset="0"/>
              </a:rPr>
              <a:t>JSON: $0 (in git)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EC76FC-87DB-F591-3973-5EFADFF7DFA9}"/>
              </a:ext>
            </a:extLst>
          </p:cNvPr>
          <p:cNvSpPr txBox="1"/>
          <p:nvPr/>
        </p:nvSpPr>
        <p:spPr>
          <a:xfrm>
            <a:off x="4064000" y="5308600"/>
            <a:ext cx="4064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Cosmos serverless: ~$0.25/1M RUs = a few $/mo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00AD8B-564A-E94A-57AC-0EE68DD04903}"/>
              </a:ext>
            </a:extLst>
          </p:cNvPr>
          <p:cNvSpPr txBox="1"/>
          <p:nvPr/>
        </p:nvSpPr>
        <p:spPr>
          <a:xfrm>
            <a:off x="8255000" y="5308600"/>
            <a:ext cx="3302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Foundry: pay on eval runs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8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0FE3A-7FA6-BBB1-7895-BAE178754C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8E78F4-E1B0-5E2A-B01B-F6F2C8CB2DDF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D0D4BB-FAE4-7E73-CFED-A200FDECE9B7}"/>
              </a:ext>
            </a:extLst>
          </p:cNvPr>
          <p:cNvSpPr/>
          <p:nvPr/>
        </p:nvSpPr>
        <p:spPr>
          <a:xfrm>
            <a:off x="304800" y="152400"/>
            <a:ext cx="508000" cy="508000"/>
          </a:xfrm>
          <a:prstGeom prst="round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F2E4F-B583-0972-604D-64C2A525C5C5}"/>
              </a:ext>
            </a:extLst>
          </p:cNvPr>
          <p:cNvSpPr txBox="1"/>
          <p:nvPr/>
        </p:nvSpPr>
        <p:spPr>
          <a:xfrm>
            <a:off x="965200" y="114300"/>
            <a:ext cx="8636000" cy="3488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100" b="1">
                <a:solidFill>
                  <a:srgbClr val="FFFFFF"/>
                </a:solidFill>
                <a:latin typeface="Segoe UI" panose="020B0502040204020203" pitchFamily="34" charset="0"/>
              </a:rPr>
              <a:t>Model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49C6E-F6F0-3D30-9E1E-38035D97D547}"/>
              </a:ext>
            </a:extLst>
          </p:cNvPr>
          <p:cNvSpPr txBox="1"/>
          <p:nvPr/>
        </p:nvSpPr>
        <p:spPr>
          <a:xfrm>
            <a:off x="990600" y="482600"/>
            <a:ext cx="863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Route calls by role; swap models safely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F4123-4C57-7360-7867-48E2286FB45F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CEEE82-20B4-4439-5118-37C5550EB073}"/>
              </a:ext>
            </a:extLst>
          </p:cNvPr>
          <p:cNvSpPr/>
          <p:nvPr/>
        </p:nvSpPr>
        <p:spPr>
          <a:xfrm>
            <a:off x="10287000" y="203200"/>
            <a:ext cx="1498600" cy="4064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3FA266-7806-925F-415C-E3F68FFFACDA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A82DF5-742A-B5C6-158E-F532A99C623D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9095D4-FEBC-6C4E-E364-6440AEA4C4CA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09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15DAFF-577B-0842-4876-222E620D377E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3DC10-1A50-8463-BE67-FB0965614D2A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Code calls a role (reasoning / bulk), not a model name - so the model can change by config, never by code.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A7EE33-9AF4-BE56-77C0-D62D9494178C}"/>
              </a:ext>
            </a:extLst>
          </p:cNvPr>
          <p:cNvSpPr txBox="1"/>
          <p:nvPr/>
        </p:nvSpPr>
        <p:spPr>
          <a:xfrm>
            <a:off x="609600" y="1320800"/>
            <a:ext cx="5334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122648"/>
                </a:solidFill>
                <a:latin typeface="Segoe UI" panose="020B0502040204020203" pitchFamily="34" charset="0"/>
              </a:rPr>
              <a:t>Why it is needed (even in stable prod)</a:t>
            </a:r>
            <a:endParaRPr lang="en-IN" sz="13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C9B25F-86D7-1059-4E45-5699C75EBC29}"/>
              </a:ext>
            </a:extLst>
          </p:cNvPr>
          <p:cNvSpPr txBox="1"/>
          <p:nvPr/>
        </p:nvSpPr>
        <p:spPr>
          <a:xfrm>
            <a:off x="609600" y="1600200"/>
            <a:ext cx="5461000" cy="9618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Azure retires / deprecates models on its schedule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Adopt a cheaper or better model without re-engineering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A prod incident needs an instant switch lever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Pin versions so Azure won't auto-upgrade under us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1010242-59AA-8554-F09A-BF2DCE12059C}"/>
              </a:ext>
            </a:extLst>
          </p:cNvPr>
          <p:cNvSpPr/>
          <p:nvPr/>
        </p:nvSpPr>
        <p:spPr>
          <a:xfrm>
            <a:off x="6223000" y="1295400"/>
            <a:ext cx="53594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982EF3-9FA5-CD5D-E29E-6EBAEF926023}"/>
              </a:ext>
            </a:extLst>
          </p:cNvPr>
          <p:cNvSpPr/>
          <p:nvPr/>
        </p:nvSpPr>
        <p:spPr>
          <a:xfrm>
            <a:off x="6223000" y="1397000"/>
            <a:ext cx="63500" cy="23368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4FF3B6-2A41-F73E-D958-0D7677488347}"/>
              </a:ext>
            </a:extLst>
          </p:cNvPr>
          <p:cNvSpPr txBox="1"/>
          <p:nvPr/>
        </p:nvSpPr>
        <p:spPr>
          <a:xfrm>
            <a:off x="6426200" y="13716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16A078"/>
                </a:solidFill>
                <a:latin typeface="Segoe UI" panose="020B0502040204020203" pitchFamily="34" charset="0"/>
              </a:rPr>
              <a:t>Worked example - APIX analysis call</a:t>
            </a:r>
            <a:endParaRPr lang="en-IN" sz="1300" b="1">
              <a:solidFill>
                <a:srgbClr val="16A078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2CD63-7ED0-4F5B-A9CB-D4722CDFE60E}"/>
              </a:ext>
            </a:extLst>
          </p:cNvPr>
          <p:cNvSpPr txBox="1"/>
          <p:nvPr/>
        </p:nvSpPr>
        <p:spPr>
          <a:xfrm>
            <a:off x="6426200" y="1676400"/>
            <a:ext cx="50546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122648"/>
                </a:solidFill>
                <a:latin typeface="Segoe UI" panose="020B0502040204020203" pitchFamily="34" charset="0"/>
              </a:rPr>
              <a:t>Task: call_analysis  (program: PSO)</a:t>
            </a:r>
            <a:endParaRPr lang="en-IN" sz="11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FE8E3F-47A5-C587-10F6-B2B698FB5DC1}"/>
              </a:ext>
            </a:extLst>
          </p:cNvPr>
          <p:cNvSpPr txBox="1"/>
          <p:nvPr/>
        </p:nvSpPr>
        <p:spPr>
          <a:xfrm>
            <a:off x="6426200" y="1955800"/>
            <a:ext cx="50546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Today:  { prompt v3, alias reasoning -&gt; gpt-5-nano }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B87A47-CDDB-5C2F-557F-1EDF56CD2531}"/>
              </a:ext>
            </a:extLst>
          </p:cNvPr>
          <p:cNvSpPr txBox="1"/>
          <p:nvPr/>
        </p:nvSpPr>
        <p:spPr>
          <a:xfrm>
            <a:off x="6426200" y="2413000"/>
            <a:ext cx="50546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You edit the prompt to v4 - quality dips on nano for PSO's longer calls.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3BB8ED-DD13-6505-E41D-DF0C73E3C8DD}"/>
              </a:ext>
            </a:extLst>
          </p:cNvPr>
          <p:cNvSpPr txBox="1"/>
          <p:nvPr/>
        </p:nvSpPr>
        <p:spPr>
          <a:xfrm>
            <a:off x="6426200" y="2921000"/>
            <a:ext cx="50546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16A078"/>
                </a:solidFill>
                <a:latin typeface="Segoe UI" panose="020B0502040204020203" pitchFamily="34" charset="0"/>
              </a:rPr>
              <a:t>Fix:  { prompt v4, alias reasoning -&gt; gpt-5-mini } - one config entry, no code.</a:t>
            </a:r>
            <a:endParaRPr lang="en-IN" sz="1100" b="1">
              <a:solidFill>
                <a:srgbClr val="16A078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B21E8-624A-6F6D-21DC-ED040A3FAB8D}"/>
              </a:ext>
            </a:extLst>
          </p:cNvPr>
          <p:cNvSpPr txBox="1"/>
          <p:nvPr/>
        </p:nvSpPr>
        <p:spPr>
          <a:xfrm>
            <a:off x="6426200" y="3403600"/>
            <a:ext cx="5054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The eval gate tests the v4 + gpt-5-mini PAIR before it can ship.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9F1B8B-767E-6CA1-BD04-061392E859EE}"/>
              </a:ext>
            </a:extLst>
          </p:cNvPr>
          <p:cNvSpPr txBox="1"/>
          <p:nvPr/>
        </p:nvSpPr>
        <p:spPr>
          <a:xfrm>
            <a:off x="609600" y="3251200"/>
            <a:ext cx="5461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Foundry provides the deployments (inventory). The semantic roles (bulk / reasoning) are a thin config layer we own.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CAAB08-DD6B-ADBB-D303-B242A5A7EE41}"/>
              </a:ext>
            </a:extLst>
          </p:cNvPr>
          <p:cNvSpPr/>
          <p:nvPr/>
        </p:nvSpPr>
        <p:spPr>
          <a:xfrm>
            <a:off x="609600" y="3962400"/>
            <a:ext cx="5486400" cy="3556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Risk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78A3C7-E4CE-0017-25EE-89810C480348}"/>
              </a:ext>
            </a:extLst>
          </p:cNvPr>
          <p:cNvSpPr/>
          <p:nvPr/>
        </p:nvSpPr>
        <p:spPr>
          <a:xfrm>
            <a:off x="6096000" y="3962400"/>
            <a:ext cx="5486400" cy="3556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Mitigation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661466-EC29-4C9B-9D20-C6C1F65C2DFC}"/>
              </a:ext>
            </a:extLst>
          </p:cNvPr>
          <p:cNvSpPr/>
          <p:nvPr/>
        </p:nvSpPr>
        <p:spPr>
          <a:xfrm>
            <a:off x="609600" y="4318000"/>
            <a:ext cx="54864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100" b="1">
                <a:solidFill>
                  <a:srgbClr val="122648"/>
                </a:solidFill>
                <a:latin typeface="Segoe UI" panose="020B0502040204020203" pitchFamily="34" charset="0"/>
              </a:rPr>
              <a:t>Silent behaviour change on a swap</a:t>
            </a:r>
            <a:endParaRPr lang="en-IN" sz="11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4F9CA5-7122-6032-D66A-8ADD77F882FF}"/>
              </a:ext>
            </a:extLst>
          </p:cNvPr>
          <p:cNvSpPr/>
          <p:nvPr/>
        </p:nvSpPr>
        <p:spPr>
          <a:xfrm>
            <a:off x="6096000" y="4318000"/>
            <a:ext cx="54864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Swap must pass the eval gate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D81217-F3F1-8EEE-ABEE-82FAFC1A5403}"/>
              </a:ext>
            </a:extLst>
          </p:cNvPr>
          <p:cNvSpPr/>
          <p:nvPr/>
        </p:nvSpPr>
        <p:spPr>
          <a:xfrm>
            <a:off x="609600" y="4699000"/>
            <a:ext cx="54864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Deployment drift (alias -&gt; missing)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930F04-5208-FA17-45FD-998261EB8408}"/>
              </a:ext>
            </a:extLst>
          </p:cNvPr>
          <p:cNvSpPr/>
          <p:nvPr/>
        </p:nvSpPr>
        <p:spPr>
          <a:xfrm>
            <a:off x="6096000" y="4699000"/>
            <a:ext cx="54864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Validate aliases resolve at startup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E03623-67A7-D5D4-2FB1-2CAEB7F1FDB0}"/>
              </a:ext>
            </a:extLst>
          </p:cNvPr>
          <p:cNvSpPr/>
          <p:nvPr/>
        </p:nvSpPr>
        <p:spPr>
          <a:xfrm>
            <a:off x="609600" y="5080000"/>
            <a:ext cx="54864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Azure auto-upgrades a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73F27F-7231-F72B-18EF-2430BA405E5B}"/>
              </a:ext>
            </a:extLst>
          </p:cNvPr>
          <p:cNvSpPr/>
          <p:nvPr/>
        </p:nvSpPr>
        <p:spPr>
          <a:xfrm>
            <a:off x="6096000" y="5080000"/>
            <a:ext cx="54864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Pin specific model versions</a:t>
            </a:r>
          </a:p>
        </p:txBody>
      </p:sp>
    </p:spTree>
    <p:extLst>
      <p:ext uri="{BB962C8B-B14F-4D97-AF65-F5344CB8AC3E}">
        <p14:creationId xmlns:p14="http://schemas.microsoft.com/office/powerpoint/2010/main" val="593845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E1923C-9F05-3998-121E-4F92EB3410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FBF95E-FE11-3DC0-DABD-33B426B1840A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C8FF45-10EF-E8BF-C227-9A3FFA399584}"/>
              </a:ext>
            </a:extLst>
          </p:cNvPr>
          <p:cNvSpPr/>
          <p:nvPr/>
        </p:nvSpPr>
        <p:spPr>
          <a:xfrm>
            <a:off x="304800" y="152400"/>
            <a:ext cx="508000" cy="5080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A44C31-C3D1-617D-911A-265C1BC7792A}"/>
              </a:ext>
            </a:extLst>
          </p:cNvPr>
          <p:cNvSpPr txBox="1"/>
          <p:nvPr/>
        </p:nvSpPr>
        <p:spPr>
          <a:xfrm>
            <a:off x="965200" y="114300"/>
            <a:ext cx="8636000" cy="3488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100" b="1">
                <a:solidFill>
                  <a:srgbClr val="FFFFFF"/>
                </a:solidFill>
                <a:latin typeface="Segoe UI" panose="020B0502040204020203" pitchFamily="34" charset="0"/>
              </a:rPr>
              <a:t>Evaluation Gate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BA1F3-0255-E861-369D-C11CEDC4A2C2}"/>
              </a:ext>
            </a:extLst>
          </p:cNvPr>
          <p:cNvSpPr txBox="1"/>
          <p:nvPr/>
        </p:nvSpPr>
        <p:spPr>
          <a:xfrm>
            <a:off x="990600" y="482600"/>
            <a:ext cx="863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How we actually evaluate - and what the output says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98BFBA-2DC2-13BD-6CCA-A1A0E1C20D68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431CA2-6933-2AB6-53BC-E2594C5B165E}"/>
              </a:ext>
            </a:extLst>
          </p:cNvPr>
          <p:cNvSpPr/>
          <p:nvPr/>
        </p:nvSpPr>
        <p:spPr>
          <a:xfrm>
            <a:off x="10287000" y="203200"/>
            <a:ext cx="1498600" cy="4064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87EE36-D6FA-D2B0-F7D4-C305E0E52615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7D634-CAC4-3CEF-42BB-F086A4303DB9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8954C-8125-9F1A-D201-D40D19ECC9B8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B35B77-B775-A68B-B846-B2D252087D2E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04F11-264A-C8DE-B103-0C19D6E65705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Run the candidate over certified ground truth, score each probe against a tolerance, and gate promotion on the pass rate.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3D61F-F37B-B9E8-74BF-C3002810B670}"/>
              </a:ext>
            </a:extLst>
          </p:cNvPr>
          <p:cNvSpPr txBox="1"/>
          <p:nvPr/>
        </p:nvSpPr>
        <p:spPr>
          <a:xfrm>
            <a:off x="609600" y="1320800"/>
            <a:ext cx="5461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122648"/>
                </a:solidFill>
                <a:latin typeface="Segoe UI" panose="020B0502040204020203" pitchFamily="34" charset="0"/>
              </a:rPr>
              <a:t>How it runs (APIX harness)</a:t>
            </a:r>
            <a:endParaRPr lang="en-IN" sz="13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CB1FDE-0189-D6D1-353F-9900EBD192C6}"/>
              </a:ext>
            </a:extLst>
          </p:cNvPr>
          <p:cNvSpPr txBox="1"/>
          <p:nvPr/>
        </p:nvSpPr>
        <p:spPr>
          <a:xfrm>
            <a:off x="609600" y="1600200"/>
            <a:ext cx="5588000" cy="9618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Ground truth = certified weekly JSON in Blob (source of truth)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Run candidate -&gt; compare each probe to expected value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~20 probes: escalations, save_attempts, behaviour scores...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Output: qa_results.xlsx - pass/fail + accuracy % summary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1FF5B1-FD0A-0DAE-FBD1-93B46E386187}"/>
              </a:ext>
            </a:extLst>
          </p:cNvPr>
          <p:cNvSpPr txBox="1"/>
          <p:nvPr/>
        </p:nvSpPr>
        <p:spPr>
          <a:xfrm>
            <a:off x="6350000" y="1320800"/>
            <a:ext cx="5207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6A078"/>
                </a:solidFill>
                <a:latin typeface="Segoe UI" panose="020B0502040204020203" pitchFamily="34" charset="0"/>
              </a:rPr>
              <a:t>Sample scorecard 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579883-AA1A-B807-9F80-A70B83FAC5CD}"/>
              </a:ext>
            </a:extLst>
          </p:cNvPr>
          <p:cNvSpPr/>
          <p:nvPr/>
        </p:nvSpPr>
        <p:spPr>
          <a:xfrm>
            <a:off x="6350000" y="1600200"/>
            <a:ext cx="1905000" cy="355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Probe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C9EBB-56D3-9FD1-D268-E7A484269BAE}"/>
              </a:ext>
            </a:extLst>
          </p:cNvPr>
          <p:cNvSpPr/>
          <p:nvPr/>
        </p:nvSpPr>
        <p:spPr>
          <a:xfrm>
            <a:off x="8255000" y="1600200"/>
            <a:ext cx="990600" cy="355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Expect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E45D4E-7E7A-6447-7E80-0B4CE0BD7D9D}"/>
              </a:ext>
            </a:extLst>
          </p:cNvPr>
          <p:cNvSpPr/>
          <p:nvPr/>
        </p:nvSpPr>
        <p:spPr>
          <a:xfrm>
            <a:off x="9245600" y="1600200"/>
            <a:ext cx="889000" cy="355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Got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C87A2D-7DCA-AF64-0697-A26074C64375}"/>
              </a:ext>
            </a:extLst>
          </p:cNvPr>
          <p:cNvSpPr/>
          <p:nvPr/>
        </p:nvSpPr>
        <p:spPr>
          <a:xfrm>
            <a:off x="10134600" y="1600200"/>
            <a:ext cx="1422400" cy="355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Result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52CBFA-4ABD-9DF1-1059-893E1860412F}"/>
              </a:ext>
            </a:extLst>
          </p:cNvPr>
          <p:cNvSpPr/>
          <p:nvPr/>
        </p:nvSpPr>
        <p:spPr>
          <a:xfrm>
            <a:off x="6350000" y="1955800"/>
            <a:ext cx="1905000" cy="3302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 b="1">
                <a:solidFill>
                  <a:srgbClr val="122648"/>
                </a:solidFill>
                <a:latin typeface="Segoe UI" panose="020B0502040204020203" pitchFamily="34" charset="0"/>
              </a:rPr>
              <a:t>escalations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184DFB-EF7C-5F72-3B59-62C1677FBF0A}"/>
              </a:ext>
            </a:extLst>
          </p:cNvPr>
          <p:cNvSpPr/>
          <p:nvPr/>
        </p:nvSpPr>
        <p:spPr>
          <a:xfrm>
            <a:off x="8255000" y="1955800"/>
            <a:ext cx="990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05EF9A-745D-9B10-6A96-2AE0EDD3FCA6}"/>
              </a:ext>
            </a:extLst>
          </p:cNvPr>
          <p:cNvSpPr/>
          <p:nvPr/>
        </p:nvSpPr>
        <p:spPr>
          <a:xfrm>
            <a:off x="9245600" y="1955800"/>
            <a:ext cx="8890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14D7-DF9D-4F20-3C8B-6E5DAADCFD9D}"/>
              </a:ext>
            </a:extLst>
          </p:cNvPr>
          <p:cNvSpPr/>
          <p:nvPr/>
        </p:nvSpPr>
        <p:spPr>
          <a:xfrm>
            <a:off x="10134600" y="1955800"/>
            <a:ext cx="1422400" cy="3302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82DF5D-9A3E-BD1E-0C53-323BCF9A6C3F}"/>
              </a:ext>
            </a:extLst>
          </p:cNvPr>
          <p:cNvSpPr/>
          <p:nvPr/>
        </p:nvSpPr>
        <p:spPr>
          <a:xfrm>
            <a:off x="6350000" y="2286000"/>
            <a:ext cx="1905000" cy="3302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 b="1">
                <a:solidFill>
                  <a:srgbClr val="122648"/>
                </a:solidFill>
                <a:latin typeface="Segoe UI" panose="020B0502040204020203" pitchFamily="34" charset="0"/>
              </a:rPr>
              <a:t>save_attempts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B9DD65-8DE3-B455-730F-5CCFDF4FDCFC}"/>
              </a:ext>
            </a:extLst>
          </p:cNvPr>
          <p:cNvSpPr/>
          <p:nvPr/>
        </p:nvSpPr>
        <p:spPr>
          <a:xfrm>
            <a:off x="8255000" y="2286000"/>
            <a:ext cx="990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DC309D-A856-207E-8926-55C3B7152B57}"/>
              </a:ext>
            </a:extLst>
          </p:cNvPr>
          <p:cNvSpPr/>
          <p:nvPr/>
        </p:nvSpPr>
        <p:spPr>
          <a:xfrm>
            <a:off x="9245600" y="2286000"/>
            <a:ext cx="8890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47E520-9C5D-9450-9219-885DE7BF943F}"/>
              </a:ext>
            </a:extLst>
          </p:cNvPr>
          <p:cNvSpPr/>
          <p:nvPr/>
        </p:nvSpPr>
        <p:spPr>
          <a:xfrm>
            <a:off x="10134600" y="2286000"/>
            <a:ext cx="1422400" cy="3302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9205B4-A4E3-88ED-FE8F-5C5FD5F8B5CF}"/>
              </a:ext>
            </a:extLst>
          </p:cNvPr>
          <p:cNvSpPr/>
          <p:nvPr/>
        </p:nvSpPr>
        <p:spPr>
          <a:xfrm>
            <a:off x="6350000" y="2616200"/>
            <a:ext cx="1905000" cy="3302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 b="1">
                <a:solidFill>
                  <a:srgbClr val="122648"/>
                </a:solidFill>
                <a:latin typeface="Segoe UI" panose="020B0502040204020203" pitchFamily="34" charset="0"/>
              </a:rPr>
              <a:t>bs_empathy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F3FAA0-8185-20C4-4E38-7F4FD2FFB5A2}"/>
              </a:ext>
            </a:extLst>
          </p:cNvPr>
          <p:cNvSpPr/>
          <p:nvPr/>
        </p:nvSpPr>
        <p:spPr>
          <a:xfrm>
            <a:off x="8255000" y="2616200"/>
            <a:ext cx="990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0.80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3B4F41-A97C-D378-F5F2-5B14034009CF}"/>
              </a:ext>
            </a:extLst>
          </p:cNvPr>
          <p:cNvSpPr/>
          <p:nvPr/>
        </p:nvSpPr>
        <p:spPr>
          <a:xfrm>
            <a:off x="9245600" y="2616200"/>
            <a:ext cx="8890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0.78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4CBE39-BB53-B50C-B472-9A657F1D4808}"/>
              </a:ext>
            </a:extLst>
          </p:cNvPr>
          <p:cNvSpPr/>
          <p:nvPr/>
        </p:nvSpPr>
        <p:spPr>
          <a:xfrm>
            <a:off x="10134600" y="2616200"/>
            <a:ext cx="1422400" cy="330200"/>
          </a:xfrm>
          <a:prstGeom prst="rect">
            <a:avLst/>
          </a:prstGeom>
          <a:solidFill>
            <a:srgbClr val="DFF2E3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PASS (&lt;=0.1)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2B899C-088A-AAD0-E3CF-15044CAD1472}"/>
              </a:ext>
            </a:extLst>
          </p:cNvPr>
          <p:cNvSpPr/>
          <p:nvPr/>
        </p:nvSpPr>
        <p:spPr>
          <a:xfrm>
            <a:off x="6350000" y="2946400"/>
            <a:ext cx="1905000" cy="3302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 b="1">
                <a:solidFill>
                  <a:srgbClr val="122648"/>
                </a:solidFill>
                <a:latin typeface="Segoe UI" panose="020B0502040204020203" pitchFamily="34" charset="0"/>
              </a:rPr>
              <a:t>overall_behavior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3114E0-DB2D-F93B-A5D8-52F11CCC2DBC}"/>
              </a:ext>
            </a:extLst>
          </p:cNvPr>
          <p:cNvSpPr/>
          <p:nvPr/>
        </p:nvSpPr>
        <p:spPr>
          <a:xfrm>
            <a:off x="8255000" y="2946400"/>
            <a:ext cx="9906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0.72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FF1518-77A3-0D46-8D70-6BF242266FE6}"/>
              </a:ext>
            </a:extLst>
          </p:cNvPr>
          <p:cNvSpPr/>
          <p:nvPr/>
        </p:nvSpPr>
        <p:spPr>
          <a:xfrm>
            <a:off x="9245600" y="2946400"/>
            <a:ext cx="889000" cy="33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0.60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1AEBDF-394B-59EB-319D-CE2DDF08EA8C}"/>
              </a:ext>
            </a:extLst>
          </p:cNvPr>
          <p:cNvSpPr/>
          <p:nvPr/>
        </p:nvSpPr>
        <p:spPr>
          <a:xfrm>
            <a:off x="10134600" y="2946400"/>
            <a:ext cx="1422400" cy="330200"/>
          </a:xfrm>
          <a:prstGeom prst="rect">
            <a:avLst/>
          </a:prstGeom>
          <a:solidFill>
            <a:srgbClr val="FAE2E2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rtlCol="0" anchor="ctr"/>
          <a:lstStyle/>
          <a:p>
            <a:pPr algn="ctr"/>
            <a:r>
              <a:rPr lang="en-IN" sz="1000">
                <a:solidFill>
                  <a:srgbClr val="262B34"/>
                </a:solidFill>
                <a:latin typeface="Segoe UI" panose="020B0502040204020203" pitchFamily="34" charset="0"/>
              </a:rPr>
              <a:t>FAIL (&gt;0.1)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BFD522-0807-2233-DCB9-350514F63F06}"/>
              </a:ext>
            </a:extLst>
          </p:cNvPr>
          <p:cNvSpPr txBox="1"/>
          <p:nvPr/>
        </p:nvSpPr>
        <p:spPr>
          <a:xfrm>
            <a:off x="609600" y="3098800"/>
            <a:ext cx="10922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122648"/>
                </a:solidFill>
                <a:latin typeface="Segoe UI" panose="020B0502040204020203" pitchFamily="34" charset="0"/>
              </a:rPr>
              <a:t>Promotion thresholds - tightened per environment</a:t>
            </a:r>
            <a:endParaRPr lang="en-IN" sz="13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9CD82DC-0820-B997-0853-02EC5FD53EDA}"/>
              </a:ext>
            </a:extLst>
          </p:cNvPr>
          <p:cNvSpPr/>
          <p:nvPr/>
        </p:nvSpPr>
        <p:spPr>
          <a:xfrm>
            <a:off x="609600" y="3429000"/>
            <a:ext cx="3454400" cy="1092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D3FD3B-8DBB-5B7B-B4D1-2E3B850951B9}"/>
              </a:ext>
            </a:extLst>
          </p:cNvPr>
          <p:cNvSpPr/>
          <p:nvPr/>
        </p:nvSpPr>
        <p:spPr>
          <a:xfrm>
            <a:off x="609600" y="3530600"/>
            <a:ext cx="63500" cy="8890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D794ED-105C-4FEB-C1F4-9317342B72F8}"/>
              </a:ext>
            </a:extLst>
          </p:cNvPr>
          <p:cNvSpPr txBox="1"/>
          <p:nvPr/>
        </p:nvSpPr>
        <p:spPr>
          <a:xfrm>
            <a:off x="838200" y="3530600"/>
            <a:ext cx="3048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2A76BE"/>
                </a:solidFill>
                <a:latin typeface="Segoe UI" panose="020B0502040204020203" pitchFamily="34" charset="0"/>
              </a:rPr>
              <a:t>DEV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580FBF-A799-BC51-E221-835E0DDEF162}"/>
              </a:ext>
            </a:extLst>
          </p:cNvPr>
          <p:cNvSpPr txBox="1"/>
          <p:nvPr/>
        </p:nvSpPr>
        <p:spPr>
          <a:xfrm>
            <a:off x="838200" y="3784600"/>
            <a:ext cx="1524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min pass 0.80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1AF3D72-F959-91C3-470D-EC31B70A6F3F}"/>
              </a:ext>
            </a:extLst>
          </p:cNvPr>
          <p:cNvSpPr/>
          <p:nvPr/>
        </p:nvSpPr>
        <p:spPr>
          <a:xfrm>
            <a:off x="838200" y="4267200"/>
            <a:ext cx="2997200" cy="127000"/>
          </a:xfrm>
          <a:prstGeom prst="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928AD6-2930-C7E3-A274-F24E9A359FDE}"/>
              </a:ext>
            </a:extLst>
          </p:cNvPr>
          <p:cNvSpPr/>
          <p:nvPr/>
        </p:nvSpPr>
        <p:spPr>
          <a:xfrm>
            <a:off x="838200" y="4267200"/>
            <a:ext cx="2397760" cy="1270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CCD2FFC-9426-0D97-154A-11C775212B96}"/>
              </a:ext>
            </a:extLst>
          </p:cNvPr>
          <p:cNvSpPr/>
          <p:nvPr/>
        </p:nvSpPr>
        <p:spPr>
          <a:xfrm>
            <a:off x="4368800" y="3429000"/>
            <a:ext cx="3454400" cy="1092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BCC1C3-246B-A6E9-9E47-4245EFB5820D}"/>
              </a:ext>
            </a:extLst>
          </p:cNvPr>
          <p:cNvSpPr/>
          <p:nvPr/>
        </p:nvSpPr>
        <p:spPr>
          <a:xfrm>
            <a:off x="4368800" y="3530600"/>
            <a:ext cx="63500" cy="8890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543BEA-E81A-882E-A0CB-23446054A6FD}"/>
              </a:ext>
            </a:extLst>
          </p:cNvPr>
          <p:cNvSpPr txBox="1"/>
          <p:nvPr/>
        </p:nvSpPr>
        <p:spPr>
          <a:xfrm>
            <a:off x="4597400" y="3530600"/>
            <a:ext cx="3048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009EA8"/>
                </a:solidFill>
                <a:latin typeface="Segoe UI" panose="020B0502040204020203" pitchFamily="34" charset="0"/>
              </a:rPr>
              <a:t>TEST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CC8B0C-1E3B-60C8-B381-EADE302FF594}"/>
              </a:ext>
            </a:extLst>
          </p:cNvPr>
          <p:cNvSpPr txBox="1"/>
          <p:nvPr/>
        </p:nvSpPr>
        <p:spPr>
          <a:xfrm>
            <a:off x="4597400" y="3784600"/>
            <a:ext cx="1524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min pass 0.90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E9DDF3-0ED3-544E-4315-EB4089BA8B5F}"/>
              </a:ext>
            </a:extLst>
          </p:cNvPr>
          <p:cNvSpPr/>
          <p:nvPr/>
        </p:nvSpPr>
        <p:spPr>
          <a:xfrm>
            <a:off x="4597400" y="4267200"/>
            <a:ext cx="2997200" cy="127000"/>
          </a:xfrm>
          <a:prstGeom prst="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0258373-E792-32D8-F899-6CFF5B2959D0}"/>
              </a:ext>
            </a:extLst>
          </p:cNvPr>
          <p:cNvSpPr/>
          <p:nvPr/>
        </p:nvSpPr>
        <p:spPr>
          <a:xfrm>
            <a:off x="4597400" y="4267200"/>
            <a:ext cx="2697480" cy="1270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85E91B6-17D6-D8F6-90E2-781E329D7CA8}"/>
              </a:ext>
            </a:extLst>
          </p:cNvPr>
          <p:cNvSpPr/>
          <p:nvPr/>
        </p:nvSpPr>
        <p:spPr>
          <a:xfrm>
            <a:off x="8128000" y="3429000"/>
            <a:ext cx="3454400" cy="1092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B9E7BB-AF2B-081F-CB00-B55DC39431E1}"/>
              </a:ext>
            </a:extLst>
          </p:cNvPr>
          <p:cNvSpPr/>
          <p:nvPr/>
        </p:nvSpPr>
        <p:spPr>
          <a:xfrm>
            <a:off x="8128000" y="3530600"/>
            <a:ext cx="63500" cy="8890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34C1DF-999D-F761-E610-22B7D91C34A9}"/>
              </a:ext>
            </a:extLst>
          </p:cNvPr>
          <p:cNvSpPr txBox="1"/>
          <p:nvPr/>
        </p:nvSpPr>
        <p:spPr>
          <a:xfrm>
            <a:off x="8356600" y="3530600"/>
            <a:ext cx="3048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16A078"/>
                </a:solidFill>
                <a:latin typeface="Segoe UI" panose="020B0502040204020203" pitchFamily="34" charset="0"/>
              </a:rPr>
              <a:t>PROD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29B274-97BF-E699-A115-78A45DC27BCC}"/>
              </a:ext>
            </a:extLst>
          </p:cNvPr>
          <p:cNvSpPr txBox="1"/>
          <p:nvPr/>
        </p:nvSpPr>
        <p:spPr>
          <a:xfrm>
            <a:off x="8356600" y="3784600"/>
            <a:ext cx="1524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min pass 0.95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CB67524-81B4-FA57-4F76-6D3779C796F6}"/>
              </a:ext>
            </a:extLst>
          </p:cNvPr>
          <p:cNvSpPr/>
          <p:nvPr/>
        </p:nvSpPr>
        <p:spPr>
          <a:xfrm>
            <a:off x="8356600" y="4267200"/>
            <a:ext cx="2997200" cy="127000"/>
          </a:xfrm>
          <a:prstGeom prst="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EC65A6F-F77D-D0B0-4D3F-93E988040774}"/>
              </a:ext>
            </a:extLst>
          </p:cNvPr>
          <p:cNvSpPr/>
          <p:nvPr/>
        </p:nvSpPr>
        <p:spPr>
          <a:xfrm>
            <a:off x="8356600" y="4267200"/>
            <a:ext cx="2847340" cy="1270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CE76F2-A002-FD04-217B-29EE3E91326D}"/>
              </a:ext>
            </a:extLst>
          </p:cNvPr>
          <p:cNvSpPr txBox="1"/>
          <p:nvPr/>
        </p:nvSpPr>
        <p:spPr>
          <a:xfrm>
            <a:off x="609600" y="4673600"/>
            <a:ext cx="109728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A change that scores below the environment's threshold is blocked automatically in CI/CD. Framework: Azure AI Foundry evaluation (groundedness, relevance, similarity, custom + LLM-as-judge); golden store is versioned for audit.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000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6FAFB6-2EEC-66E2-84EA-974F1B40CB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3A94D9-D725-056A-D990-7C11548A4EF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F20A78-A6B7-83C4-B53E-1A6C97C0C530}"/>
              </a:ext>
            </a:extLst>
          </p:cNvPr>
          <p:cNvSpPr/>
          <p:nvPr/>
        </p:nvSpPr>
        <p:spPr>
          <a:xfrm>
            <a:off x="304800" y="152400"/>
            <a:ext cx="508000" cy="5080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AA313-2C19-C845-7F76-88C5DA3AE6EA}"/>
              </a:ext>
            </a:extLst>
          </p:cNvPr>
          <p:cNvSpPr txBox="1"/>
          <p:nvPr/>
        </p:nvSpPr>
        <p:spPr>
          <a:xfrm>
            <a:off x="965200" y="114300"/>
            <a:ext cx="8636000" cy="3488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100" b="1">
                <a:solidFill>
                  <a:srgbClr val="FFFFFF"/>
                </a:solidFill>
                <a:latin typeface="Segoe UI" panose="020B0502040204020203" pitchFamily="34" charset="0"/>
              </a:rPr>
              <a:t>Guardrails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D7228-9CAD-D05E-6A9D-B1A3BAE2CCCC}"/>
              </a:ext>
            </a:extLst>
          </p:cNvPr>
          <p:cNvSpPr txBox="1"/>
          <p:nvPr/>
        </p:nvSpPr>
        <p:spPr>
          <a:xfrm>
            <a:off x="990600" y="482600"/>
            <a:ext cx="863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Policy checks on input AND output of every call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F07C5-6B08-79DE-6698-FE00AD40DECF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273089-6F6B-9A71-91DD-6C539BFBEA8C}"/>
              </a:ext>
            </a:extLst>
          </p:cNvPr>
          <p:cNvSpPr/>
          <p:nvPr/>
        </p:nvSpPr>
        <p:spPr>
          <a:xfrm>
            <a:off x="10287000" y="203200"/>
            <a:ext cx="1498600" cy="4064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84C4D4-436C-E25A-DA37-161D819B6566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F060E-7ADD-4B15-E6EB-950A60C4CC82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67019-E056-CFC4-1AC3-6645598263F9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792B9B-B935-AFC8-5BEF-AAD5477E4F3E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C6425-F5B8-EE9C-BC12-DCD3FF9EED8D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The safety layer a BPO cannot ship without - PII, secrets, injection, and content safety, enforced on every call.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EC07401-68DB-FDF0-558E-B02D70114BAF}"/>
              </a:ext>
            </a:extLst>
          </p:cNvPr>
          <p:cNvSpPr/>
          <p:nvPr/>
        </p:nvSpPr>
        <p:spPr>
          <a:xfrm>
            <a:off x="609600" y="1320800"/>
            <a:ext cx="5334000" cy="1498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B55605-CF5D-0F55-8D89-F05031B2F863}"/>
              </a:ext>
            </a:extLst>
          </p:cNvPr>
          <p:cNvSpPr/>
          <p:nvPr/>
        </p:nvSpPr>
        <p:spPr>
          <a:xfrm>
            <a:off x="609600" y="1422400"/>
            <a:ext cx="63500" cy="12954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D25E9E-9C59-3D24-E9CE-38FE222547D8}"/>
              </a:ext>
            </a:extLst>
          </p:cNvPr>
          <p:cNvSpPr txBox="1"/>
          <p:nvPr/>
        </p:nvSpPr>
        <p:spPr>
          <a:xfrm>
            <a:off x="812800" y="13970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8E5CB2"/>
                </a:solidFill>
                <a:latin typeface="Segoe UI" panose="020B0502040204020203" pitchFamily="34" charset="0"/>
              </a:rPr>
              <a:t>What we guard against (APIX)</a:t>
            </a:r>
            <a:endParaRPr lang="en-IN" sz="1300" b="1">
              <a:solidFill>
                <a:srgbClr val="8E5CB2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ED4A1D-FB3F-51C0-3B94-BAE9F99C18A5}"/>
              </a:ext>
            </a:extLst>
          </p:cNvPr>
          <p:cNvSpPr txBox="1"/>
          <p:nvPr/>
        </p:nvSpPr>
        <p:spPr>
          <a:xfrm>
            <a:off x="787400" y="1676400"/>
            <a:ext cx="5080000" cy="9618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PII - names, DOB, policy #, maybe SSN / card (the big one)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Secrets - unlikely in a transcript, but cheap to check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Prompt injection - 'ignore instructions' inside a call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Content safety - toxic input; keep AI output professional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B28BDD-0DC7-936E-1D9C-62337FF6EDD6}"/>
              </a:ext>
            </a:extLst>
          </p:cNvPr>
          <p:cNvSpPr/>
          <p:nvPr/>
        </p:nvSpPr>
        <p:spPr>
          <a:xfrm>
            <a:off x="6248400" y="1320800"/>
            <a:ext cx="5334000" cy="1498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CA3E86-27FA-9EC5-5F26-8B8E1AFAE4EF}"/>
              </a:ext>
            </a:extLst>
          </p:cNvPr>
          <p:cNvSpPr/>
          <p:nvPr/>
        </p:nvSpPr>
        <p:spPr>
          <a:xfrm>
            <a:off x="6248400" y="1422400"/>
            <a:ext cx="63500" cy="12954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278C06-C2ED-3090-7C58-B8E21CAB1682}"/>
              </a:ext>
            </a:extLst>
          </p:cNvPr>
          <p:cNvSpPr txBox="1"/>
          <p:nvPr/>
        </p:nvSpPr>
        <p:spPr>
          <a:xfrm>
            <a:off x="6451600" y="13970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CD8712"/>
                </a:solidFill>
                <a:latin typeface="Segoe UI" panose="020B0502040204020203" pitchFamily="34" charset="0"/>
              </a:rPr>
              <a:t>Policy per category (D-1 decision)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66B5DB-D96D-1492-5DC8-0DE8BCF7829E}"/>
              </a:ext>
            </a:extLst>
          </p:cNvPr>
          <p:cNvSpPr txBox="1"/>
          <p:nvPr/>
        </p:nvSpPr>
        <p:spPr>
          <a:xfrm>
            <a:off x="6426200" y="1676400"/>
            <a:ext cx="5080000" cy="9618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PII -&gt; redact or flag-for-audit (still need content to score)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Secrets / card / SSN -&gt; hard-block candidates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Injection -&gt; block or neutralize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Make it policy-configurable: change = config, not rebuild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1DD7A4-EC5F-A951-7F13-22CB33AEFE0D}"/>
              </a:ext>
            </a:extLst>
          </p:cNvPr>
          <p:cNvSpPr/>
          <p:nvPr/>
        </p:nvSpPr>
        <p:spPr>
          <a:xfrm>
            <a:off x="609600" y="2921000"/>
            <a:ext cx="2997200" cy="355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Option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3E3B34-441D-0E31-0C57-E4443FD1CFC3}"/>
              </a:ext>
            </a:extLst>
          </p:cNvPr>
          <p:cNvSpPr/>
          <p:nvPr/>
        </p:nvSpPr>
        <p:spPr>
          <a:xfrm>
            <a:off x="3606800" y="2921000"/>
            <a:ext cx="4191000" cy="355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Covers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4940CE-B1D9-CBA5-6C50-C94FEB87BC0E}"/>
              </a:ext>
            </a:extLst>
          </p:cNvPr>
          <p:cNvSpPr/>
          <p:nvPr/>
        </p:nvSpPr>
        <p:spPr>
          <a:xfrm>
            <a:off x="7797800" y="2921000"/>
            <a:ext cx="3784600" cy="355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Note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880AB9-0055-70F2-F18C-9B434FC85846}"/>
              </a:ext>
            </a:extLst>
          </p:cNvPr>
          <p:cNvSpPr/>
          <p:nvPr/>
        </p:nvSpPr>
        <p:spPr>
          <a:xfrm>
            <a:off x="609600" y="3276600"/>
            <a:ext cx="29972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Azure AI Content Safety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54AA0D-C5BC-2EF7-1F3F-3633D1E61772}"/>
              </a:ext>
            </a:extLst>
          </p:cNvPr>
          <p:cNvSpPr/>
          <p:nvPr/>
        </p:nvSpPr>
        <p:spPr>
          <a:xfrm>
            <a:off x="3606800" y="3276600"/>
            <a:ext cx="41910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Hate / violence / self-harm / sexual + prompt-shield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649AF1-3E40-5CAD-0CF3-FCEAF44E01D3}"/>
              </a:ext>
            </a:extLst>
          </p:cNvPr>
          <p:cNvSpPr/>
          <p:nvPr/>
        </p:nvSpPr>
        <p:spPr>
          <a:xfrm>
            <a:off x="7797800" y="3276600"/>
            <a:ext cx="3784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Managed, per-call cost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6610AA-0A4D-4EC1-E364-5F79E39D04F5}"/>
              </a:ext>
            </a:extLst>
          </p:cNvPr>
          <p:cNvSpPr/>
          <p:nvPr/>
        </p:nvSpPr>
        <p:spPr>
          <a:xfrm>
            <a:off x="609600" y="3632200"/>
            <a:ext cx="29972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Azure AI Language (PII)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EA47A5-6677-725A-6B3E-6CE136C2EF0C}"/>
              </a:ext>
            </a:extLst>
          </p:cNvPr>
          <p:cNvSpPr/>
          <p:nvPr/>
        </p:nvSpPr>
        <p:spPr>
          <a:xfrm>
            <a:off x="3606800" y="3632200"/>
            <a:ext cx="41910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PII entity detection / redaction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97DC8E-A15F-B659-0D73-CCA4DBD980EB}"/>
              </a:ext>
            </a:extLst>
          </p:cNvPr>
          <p:cNvSpPr/>
          <p:nvPr/>
        </p:nvSpPr>
        <p:spPr>
          <a:xfrm>
            <a:off x="7797800" y="3632200"/>
            <a:ext cx="37846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Managed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5DEE5B-59D9-AC06-88AF-00DFD9C7E8BA}"/>
              </a:ext>
            </a:extLst>
          </p:cNvPr>
          <p:cNvSpPr/>
          <p:nvPr/>
        </p:nvSpPr>
        <p:spPr>
          <a:xfrm>
            <a:off x="609600" y="3987800"/>
            <a:ext cx="29972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Custom regex / rules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D3D44D-8594-1613-2198-27BEA1958B16}"/>
              </a:ext>
            </a:extLst>
          </p:cNvPr>
          <p:cNvSpPr/>
          <p:nvPr/>
        </p:nvSpPr>
        <p:spPr>
          <a:xfrm>
            <a:off x="3606800" y="3987800"/>
            <a:ext cx="41910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AFNI-specific patterns (policy #, internal IDs)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DF537C-3099-1150-6B1A-C559985CEE1C}"/>
              </a:ext>
            </a:extLst>
          </p:cNvPr>
          <p:cNvSpPr/>
          <p:nvPr/>
        </p:nvSpPr>
        <p:spPr>
          <a:xfrm>
            <a:off x="7797800" y="3987800"/>
            <a:ext cx="3784600" cy="3556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Services won't know these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C678F3-D1EE-63B9-FB08-8E4D3031DE5D}"/>
              </a:ext>
            </a:extLst>
          </p:cNvPr>
          <p:cNvSpPr/>
          <p:nvPr/>
        </p:nvSpPr>
        <p:spPr>
          <a:xfrm>
            <a:off x="609600" y="4343400"/>
            <a:ext cx="29972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Foundry content filters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DCFCE5-2649-0F8B-9EA3-FFDC78C4A9E2}"/>
              </a:ext>
            </a:extLst>
          </p:cNvPr>
          <p:cNvSpPr/>
          <p:nvPr/>
        </p:nvSpPr>
        <p:spPr>
          <a:xfrm>
            <a:off x="3606800" y="4343400"/>
            <a:ext cx="41910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Baseline safety at the deployment level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0B176E-2FB0-E972-6D2E-A86A4F9C0436}"/>
              </a:ext>
            </a:extLst>
          </p:cNvPr>
          <p:cNvSpPr/>
          <p:nvPr/>
        </p:nvSpPr>
        <p:spPr>
          <a:xfrm>
            <a:off x="7797800" y="4343400"/>
            <a:ext cx="37846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The floor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6EA1B7-88FA-E469-9098-B0B405081F8E}"/>
              </a:ext>
            </a:extLst>
          </p:cNvPr>
          <p:cNvSpPr txBox="1"/>
          <p:nvPr/>
        </p:nvSpPr>
        <p:spPr>
          <a:xfrm>
            <a:off x="609600" y="5054600"/>
            <a:ext cx="109728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16A078"/>
                </a:solidFill>
                <a:latin typeface="Segoe UI" panose="020B0502040204020203" pitchFamily="34" charset="0"/>
              </a:rPr>
              <a:t>Recommended: layered - Foundry filter as the floor + AI Language for PII + Content Safety for toxicity / injection + a thin custom-rules layer. All sit in the shared seam so every call is covered uniformly.</a:t>
            </a:r>
            <a:endParaRPr lang="en-IN" sz="1100" b="1">
              <a:solidFill>
                <a:srgbClr val="16A0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75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209B35-1BC2-C059-5AC5-1AAC35F834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20E80-D7E5-899F-32E0-83669800824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CFE826-A6A7-0987-6C3E-E9F827987435}"/>
              </a:ext>
            </a:extLst>
          </p:cNvPr>
          <p:cNvSpPr/>
          <p:nvPr/>
        </p:nvSpPr>
        <p:spPr>
          <a:xfrm>
            <a:off x="304800" y="152400"/>
            <a:ext cx="508000" cy="5080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18135-96D1-3DB3-3D85-43A3B1FFD21F}"/>
              </a:ext>
            </a:extLst>
          </p:cNvPr>
          <p:cNvSpPr txBox="1"/>
          <p:nvPr/>
        </p:nvSpPr>
        <p:spPr>
          <a:xfrm>
            <a:off x="965200" y="114300"/>
            <a:ext cx="8636000" cy="3488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100" b="1">
                <a:solidFill>
                  <a:srgbClr val="FFFFFF"/>
                </a:solidFill>
                <a:latin typeface="Segoe UI" panose="020B0502040204020203" pitchFamily="34" charset="0"/>
              </a:rPr>
              <a:t>Observability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85337-E8CB-1BEB-E83B-4A88CA144B40}"/>
              </a:ext>
            </a:extLst>
          </p:cNvPr>
          <p:cNvSpPr txBox="1"/>
          <p:nvPr/>
        </p:nvSpPr>
        <p:spPr>
          <a:xfrm>
            <a:off x="990600" y="482600"/>
            <a:ext cx="863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Capture what happens on every call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AE585-8490-C58B-BDE8-45ACE3AE15ED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1C5C0E-C641-C7FE-6FC1-EBAACB40DC82}"/>
              </a:ext>
            </a:extLst>
          </p:cNvPr>
          <p:cNvSpPr/>
          <p:nvPr/>
        </p:nvSpPr>
        <p:spPr>
          <a:xfrm>
            <a:off x="10287000" y="203200"/>
            <a:ext cx="1498600" cy="4064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1DDD0D-CBDD-4896-EAC1-280819B07A24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9BDD8-F3A9-89D6-AF96-5386FE6D942F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A1CCB1-D300-6D67-92EC-4D76CCD2228F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5FE295-CFAC-5D96-7347-346B04CB4B9B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A400B-0F1B-5042-35B5-390351534532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You cannot run 100% of calls blind - every call emits tokens, cost, latency, versions, and guardrail outcome.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1FD44E-408E-8CFA-A7B2-4024CD2A7C65}"/>
              </a:ext>
            </a:extLst>
          </p:cNvPr>
          <p:cNvSpPr/>
          <p:nvPr/>
        </p:nvSpPr>
        <p:spPr>
          <a:xfrm>
            <a:off x="609600" y="1320800"/>
            <a:ext cx="5334000" cy="152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BD1547-8936-FA51-0795-B79C7230C088}"/>
              </a:ext>
            </a:extLst>
          </p:cNvPr>
          <p:cNvSpPr/>
          <p:nvPr/>
        </p:nvSpPr>
        <p:spPr>
          <a:xfrm>
            <a:off x="609600" y="1422400"/>
            <a:ext cx="63500" cy="13208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E9B73-8CD2-B792-B4D5-51BA6E6DAB4B}"/>
              </a:ext>
            </a:extLst>
          </p:cNvPr>
          <p:cNvSpPr txBox="1"/>
          <p:nvPr/>
        </p:nvSpPr>
        <p:spPr>
          <a:xfrm>
            <a:off x="812800" y="13970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009EA8"/>
                </a:solidFill>
                <a:latin typeface="Segoe UI" panose="020B0502040204020203" pitchFamily="34" charset="0"/>
              </a:rPr>
              <a:t>What we capture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493B66-ABBA-1C7E-E943-CBAF8C91F9BC}"/>
              </a:ext>
            </a:extLst>
          </p:cNvPr>
          <p:cNvSpPr txBox="1"/>
          <p:nvPr/>
        </p:nvSpPr>
        <p:spPr>
          <a:xfrm>
            <a:off x="787400" y="1676400"/>
            <a:ext cx="5080000" cy="7745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200">
                <a:solidFill>
                  <a:srgbClr val="262B34"/>
                </a:solidFill>
                <a:latin typeface="Segoe UI" panose="020B0502040204020203" pitchFamily="34" charset="0"/>
              </a:rPr>
              <a:t>Tokens, cost, latency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200">
                <a:solidFill>
                  <a:srgbClr val="262B34"/>
                </a:solidFill>
                <a:latin typeface="Segoe UI" panose="020B0502040204020203" pitchFamily="34" charset="0"/>
              </a:rPr>
              <a:t>Model + prompt version, pipeline step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200">
                <a:solidFill>
                  <a:srgbClr val="262B34"/>
                </a:solidFill>
                <a:latin typeface="Segoe UI" panose="020B0502040204020203" pitchFamily="34" charset="0"/>
              </a:rPr>
              <a:t>Guardrail outcome, errors</a:t>
            </a:r>
            <a:endParaRPr lang="en-IN" sz="12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BDBAD1F-4F44-000E-A888-8696B0EF9BE3}"/>
              </a:ext>
            </a:extLst>
          </p:cNvPr>
          <p:cNvSpPr/>
          <p:nvPr/>
        </p:nvSpPr>
        <p:spPr>
          <a:xfrm>
            <a:off x="6248400" y="1320800"/>
            <a:ext cx="5334000" cy="1524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67A58B-6E7A-CD0A-610D-8360394DA6BC}"/>
              </a:ext>
            </a:extLst>
          </p:cNvPr>
          <p:cNvSpPr/>
          <p:nvPr/>
        </p:nvSpPr>
        <p:spPr>
          <a:xfrm>
            <a:off x="6248400" y="1422400"/>
            <a:ext cx="63500" cy="13208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34B92A-68D6-2C5E-0D71-77C6C5504FF6}"/>
              </a:ext>
            </a:extLst>
          </p:cNvPr>
          <p:cNvSpPr txBox="1"/>
          <p:nvPr/>
        </p:nvSpPr>
        <p:spPr>
          <a:xfrm>
            <a:off x="6451600" y="13970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2A76BE"/>
                </a:solidFill>
                <a:latin typeface="Segoe UI" panose="020B0502040204020203" pitchFamily="34" charset="0"/>
              </a:rPr>
              <a:t>Why it matters for APIX</a:t>
            </a:r>
            <a:endParaRPr lang="en-IN" sz="1300" b="1">
              <a:solidFill>
                <a:srgbClr val="2A76BE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F2E1E5-F4C0-CF77-E21E-D0B9AB900688}"/>
              </a:ext>
            </a:extLst>
          </p:cNvPr>
          <p:cNvSpPr txBox="1"/>
          <p:nvPr/>
        </p:nvSpPr>
        <p:spPr>
          <a:xfrm>
            <a:off x="6426200" y="1676400"/>
            <a:ext cx="5080000" cy="9618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Cost - heavy token spend at full volume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Debugging - trace a wrong output to the exact call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Drift - latency / error / cost creeping up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Audit / RAI - tie output to the versions that made it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E7FEF1-CE46-F40F-D781-567BBA037935}"/>
              </a:ext>
            </a:extLst>
          </p:cNvPr>
          <p:cNvSpPr/>
          <p:nvPr/>
        </p:nvSpPr>
        <p:spPr>
          <a:xfrm>
            <a:off x="609600" y="2946400"/>
            <a:ext cx="53340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36F863-1CD3-2CA8-98BA-5261684F587C}"/>
              </a:ext>
            </a:extLst>
          </p:cNvPr>
          <p:cNvSpPr/>
          <p:nvPr/>
        </p:nvSpPr>
        <p:spPr>
          <a:xfrm>
            <a:off x="609600" y="3048000"/>
            <a:ext cx="63500" cy="1193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8E1DF1-1364-2BFB-9D08-4A687D4411FA}"/>
              </a:ext>
            </a:extLst>
          </p:cNvPr>
          <p:cNvSpPr txBox="1"/>
          <p:nvPr/>
        </p:nvSpPr>
        <p:spPr>
          <a:xfrm>
            <a:off x="812800" y="30226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How / where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CECF90-B3E3-9B9C-4E66-682E1B90B8F1}"/>
              </a:ext>
            </a:extLst>
          </p:cNvPr>
          <p:cNvSpPr txBox="1"/>
          <p:nvPr/>
        </p:nvSpPr>
        <p:spPr>
          <a:xfrm>
            <a:off x="787400" y="3302000"/>
            <a:ext cx="5080000" cy="7284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Azure Monitor / App Insights - native default (prod)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Foundry tracing - built-in for prompt flow runs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Shared seam emits one trace record per call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849AF7-3F9A-7610-E30D-5A28995AB955}"/>
              </a:ext>
            </a:extLst>
          </p:cNvPr>
          <p:cNvSpPr/>
          <p:nvPr/>
        </p:nvSpPr>
        <p:spPr>
          <a:xfrm>
            <a:off x="6248400" y="2946400"/>
            <a:ext cx="5334000" cy="139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9C50A-AB32-44DB-2976-88AF34301104}"/>
              </a:ext>
            </a:extLst>
          </p:cNvPr>
          <p:cNvSpPr/>
          <p:nvPr/>
        </p:nvSpPr>
        <p:spPr>
          <a:xfrm>
            <a:off x="6248400" y="3048000"/>
            <a:ext cx="63500" cy="11938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827F7B-ABD0-01B9-8E63-0F3A44ADF068}"/>
              </a:ext>
            </a:extLst>
          </p:cNvPr>
          <p:cNvSpPr txBox="1"/>
          <p:nvPr/>
        </p:nvSpPr>
        <p:spPr>
          <a:xfrm>
            <a:off x="6451600" y="30226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6A078"/>
                </a:solidFill>
                <a:latin typeface="Segoe UI" panose="020B0502040204020203" pitchFamily="34" charset="0"/>
              </a:rPr>
              <a:t>Dashboards &amp; alerts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626B63-1406-64FB-CDDC-FD2B14A8E2DE}"/>
              </a:ext>
            </a:extLst>
          </p:cNvPr>
          <p:cNvSpPr txBox="1"/>
          <p:nvPr/>
        </p:nvSpPr>
        <p:spPr>
          <a:xfrm>
            <a:off x="6426200" y="3302000"/>
            <a:ext cx="5080000" cy="7284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Cost per program / day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Latency p95, error rate, guardrail-flag rate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Budget threshold alerts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2F6989-51C9-1E0A-DB60-4957339AFB5B}"/>
              </a:ext>
            </a:extLst>
          </p:cNvPr>
          <p:cNvSpPr txBox="1"/>
          <p:nvPr/>
        </p:nvSpPr>
        <p:spPr>
          <a:xfrm>
            <a:off x="609600" y="4470400"/>
            <a:ext cx="109728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CD8712"/>
                </a:solidFill>
                <a:latin typeface="Segoe UI" panose="020B0502040204020203" pitchFamily="34" charset="0"/>
              </a:rPr>
              <a:t>Risk (BPO): never log raw transcript content - log metadata + IDs only. Sample telemetry where safe, but keep cost and error data complete.</a:t>
            </a:r>
            <a:endParaRPr lang="en-IN" sz="1100" b="1">
              <a:solidFill>
                <a:srgbClr val="CD8712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703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2221C4-8480-2AA9-35CC-76B90B05A7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9BC36-D744-D281-6AFE-E6AB209090C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37F383-1852-5CEA-27B8-9D379D269A26}"/>
              </a:ext>
            </a:extLst>
          </p:cNvPr>
          <p:cNvSpPr/>
          <p:nvPr/>
        </p:nvSpPr>
        <p:spPr>
          <a:xfrm>
            <a:off x="304800" y="152400"/>
            <a:ext cx="508000" cy="508000"/>
          </a:xfrm>
          <a:prstGeom prst="round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E8345-BBE1-42E1-6DD1-E510411B7BD7}"/>
              </a:ext>
            </a:extLst>
          </p:cNvPr>
          <p:cNvSpPr txBox="1"/>
          <p:nvPr/>
        </p:nvSpPr>
        <p:spPr>
          <a:xfrm>
            <a:off x="965200" y="114300"/>
            <a:ext cx="8636000" cy="3488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100" b="1">
                <a:solidFill>
                  <a:srgbClr val="FFFFFF"/>
                </a:solidFill>
                <a:latin typeface="Segoe UI" panose="020B0502040204020203" pitchFamily="34" charset="0"/>
              </a:rPr>
              <a:t>Feedback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FB8C7-F0D9-4572-7874-984CD058125C}"/>
              </a:ext>
            </a:extLst>
          </p:cNvPr>
          <p:cNvSpPr txBox="1"/>
          <p:nvPr/>
        </p:nvSpPr>
        <p:spPr>
          <a:xfrm>
            <a:off x="990600" y="482600"/>
            <a:ext cx="863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Human corrections feed the golden set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5BE8B-413E-20BA-1E1F-EC74F52BFAEF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D65192-DE51-0C48-EC7B-9B993AEF4948}"/>
              </a:ext>
            </a:extLst>
          </p:cNvPr>
          <p:cNvSpPr/>
          <p:nvPr/>
        </p:nvSpPr>
        <p:spPr>
          <a:xfrm>
            <a:off x="10287000" y="203200"/>
            <a:ext cx="1498600" cy="4064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8887AE-92AE-CF8E-701A-9C17CD296C6B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65DCD7-9B0D-D6A0-45F7-1F8AC385570C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A9A04-D49C-97EA-72E9-8E04CC3656BF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2E0513-8CCF-6BBB-747A-63F863508739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7F756-0768-D3B4-EA5A-80E38C8906EB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The loop that makes the system improve with use - certified coach corrections become tomorrow's ground truth.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FACADB-2641-3771-5512-7A7A9D2B490B}"/>
              </a:ext>
            </a:extLst>
          </p:cNvPr>
          <p:cNvSpPr/>
          <p:nvPr/>
        </p:nvSpPr>
        <p:spPr>
          <a:xfrm>
            <a:off x="609600" y="1320800"/>
            <a:ext cx="5334000" cy="1701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ECC0E7-92EC-846A-AC75-AA35BA7F4C9B}"/>
              </a:ext>
            </a:extLst>
          </p:cNvPr>
          <p:cNvSpPr/>
          <p:nvPr/>
        </p:nvSpPr>
        <p:spPr>
          <a:xfrm>
            <a:off x="609600" y="1422400"/>
            <a:ext cx="63500" cy="14986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AE35D-43F9-B131-FB45-9B2D8180CA93}"/>
              </a:ext>
            </a:extLst>
          </p:cNvPr>
          <p:cNvSpPr txBox="1"/>
          <p:nvPr/>
        </p:nvSpPr>
        <p:spPr>
          <a:xfrm>
            <a:off x="812800" y="13970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8E5CB2"/>
                </a:solidFill>
                <a:latin typeface="Segoe UI" panose="020B0502040204020203" pitchFamily="34" charset="0"/>
              </a:rPr>
              <a:t>What kind / who provides it</a:t>
            </a:r>
            <a:endParaRPr lang="en-IN" sz="1300" b="1">
              <a:solidFill>
                <a:srgbClr val="8E5CB2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D0E00B-FCBF-B427-0541-5A6F02A9BDAD}"/>
              </a:ext>
            </a:extLst>
          </p:cNvPr>
          <p:cNvSpPr txBox="1"/>
          <p:nvPr/>
        </p:nvSpPr>
        <p:spPr>
          <a:xfrm>
            <a:off x="787400" y="1676400"/>
            <a:ext cx="5080000" cy="9618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Structured: accept / edit / reject, corrected value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Free-text: diagnostic context, not directly ingestible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Highest value: a correction tied to a call segment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Coaches (primary), QA, managers; agents via appeal only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DF88E0-F7B8-E81F-9A8A-03D7E8E3FBD9}"/>
              </a:ext>
            </a:extLst>
          </p:cNvPr>
          <p:cNvSpPr/>
          <p:nvPr/>
        </p:nvSpPr>
        <p:spPr>
          <a:xfrm>
            <a:off x="6248400" y="1320800"/>
            <a:ext cx="5334000" cy="1701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ED864C-24D5-8C9E-1C03-C70768CAA8AA}"/>
              </a:ext>
            </a:extLst>
          </p:cNvPr>
          <p:cNvSpPr/>
          <p:nvPr/>
        </p:nvSpPr>
        <p:spPr>
          <a:xfrm>
            <a:off x="6248400" y="1422400"/>
            <a:ext cx="63500" cy="1498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7F21B2-E741-A798-12C7-E7444BAB02AE}"/>
              </a:ext>
            </a:extLst>
          </p:cNvPr>
          <p:cNvSpPr txBox="1"/>
          <p:nvPr/>
        </p:nvSpPr>
        <p:spPr>
          <a:xfrm>
            <a:off x="6451600" y="13970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16A078"/>
                </a:solidFill>
                <a:latin typeface="Segoe UI" panose="020B0502040204020203" pitchFamily="34" charset="0"/>
              </a:rPr>
              <a:t>How it improves the golden set</a:t>
            </a:r>
            <a:endParaRPr lang="en-IN" sz="1300" b="1">
              <a:solidFill>
                <a:srgbClr val="16A07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6E14D1-5213-8FDE-9B86-AB38EF0B8511}"/>
              </a:ext>
            </a:extLst>
          </p:cNvPr>
          <p:cNvSpPr txBox="1"/>
          <p:nvPr/>
        </p:nvSpPr>
        <p:spPr>
          <a:xfrm>
            <a:off x="6426200" y="1676400"/>
            <a:ext cx="5080000" cy="9618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Correction captured -&gt; candidate entry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Enters the certification queue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2-reviewer concurrence certifies -&gt; enters golden set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Rule: feedback is NOT ground truth until certified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436E8F8-CBF5-A3B8-FACD-93888835DC33}"/>
              </a:ext>
            </a:extLst>
          </p:cNvPr>
          <p:cNvSpPr/>
          <p:nvPr/>
        </p:nvSpPr>
        <p:spPr>
          <a:xfrm>
            <a:off x="609600" y="3124200"/>
            <a:ext cx="10972800" cy="558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EFA41E-0B22-3C41-6D4E-8E5CF0A0BDC3}"/>
              </a:ext>
            </a:extLst>
          </p:cNvPr>
          <p:cNvSpPr/>
          <p:nvPr/>
        </p:nvSpPr>
        <p:spPr>
          <a:xfrm>
            <a:off x="609600" y="3225800"/>
            <a:ext cx="63500" cy="3556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497C94-F2E2-7BD7-54D3-0A5F8B6E0EF1}"/>
              </a:ext>
            </a:extLst>
          </p:cNvPr>
          <p:cNvSpPr txBox="1"/>
          <p:nvPr/>
        </p:nvSpPr>
        <p:spPr>
          <a:xfrm>
            <a:off x="812800" y="32004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Where tracked: captured in the dashboard (tied to call ID + segment + prompt / model version), stored in a feedback table (Azure SQL). Lifecycle: captured -&gt; in-review -&gt; certified / rejected.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1543B2D-BC0A-5352-BABB-8BA290758A99}"/>
              </a:ext>
            </a:extLst>
          </p:cNvPr>
          <p:cNvSpPr/>
          <p:nvPr/>
        </p:nvSpPr>
        <p:spPr>
          <a:xfrm>
            <a:off x="609600" y="3810000"/>
            <a:ext cx="10972800" cy="889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8D857D-3514-6315-177A-F4AF98F8FC7C}"/>
              </a:ext>
            </a:extLst>
          </p:cNvPr>
          <p:cNvSpPr/>
          <p:nvPr/>
        </p:nvSpPr>
        <p:spPr>
          <a:xfrm>
            <a:off x="609600" y="3911600"/>
            <a:ext cx="63500" cy="6858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7D98CA-380F-4527-EFA9-452C98B74B0D}"/>
              </a:ext>
            </a:extLst>
          </p:cNvPr>
          <p:cNvSpPr txBox="1"/>
          <p:nvPr/>
        </p:nvSpPr>
        <p:spPr>
          <a:xfrm>
            <a:off x="812800" y="3898900"/>
            <a:ext cx="10795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CD8712"/>
                </a:solidFill>
                <a:latin typeface="Segoe UI" panose="020B0502040204020203" pitchFamily="34" charset="0"/>
              </a:rPr>
              <a:t>Design decision (D-4): advisory vs approval gate</a:t>
            </a:r>
            <a:endParaRPr lang="en-IN" sz="1300" b="1">
              <a:solidFill>
                <a:srgbClr val="CD8712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7CC99C-A614-BFF9-0AA8-24A7DC756B6F}"/>
              </a:ext>
            </a:extLst>
          </p:cNvPr>
          <p:cNvSpPr txBox="1"/>
          <p:nvPr/>
        </p:nvSpPr>
        <p:spPr>
          <a:xfrm>
            <a:off x="787400" y="4191000"/>
            <a:ext cx="10795000" cy="4950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Advisory - AI output goes to the agent directly; feedback improves it later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Approval gate - a coach must review / approve before the agent sees it (more trust, more workload)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477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CBC914-DB62-8737-4892-875136935A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448A9E-0FBE-B3F2-CBEF-DECC0924765A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B646A1-1036-BC0D-7A78-849E0B0780C5}"/>
              </a:ext>
            </a:extLst>
          </p:cNvPr>
          <p:cNvSpPr/>
          <p:nvPr/>
        </p:nvSpPr>
        <p:spPr>
          <a:xfrm>
            <a:off x="304800" y="152400"/>
            <a:ext cx="508000" cy="508000"/>
          </a:xfrm>
          <a:prstGeom prst="round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75B24-51A6-7BCD-1FCF-63AB372D71CE}"/>
              </a:ext>
            </a:extLst>
          </p:cNvPr>
          <p:cNvSpPr txBox="1"/>
          <p:nvPr/>
        </p:nvSpPr>
        <p:spPr>
          <a:xfrm>
            <a:off x="965200" y="114300"/>
            <a:ext cx="8636000" cy="34881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100" b="1">
                <a:solidFill>
                  <a:srgbClr val="FFFFFF"/>
                </a:solidFill>
                <a:latin typeface="Segoe UI" panose="020B0502040204020203" pitchFamily="34" charset="0"/>
              </a:rPr>
              <a:t>Governance &amp; Audit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67D35-CC32-918D-1E1E-D461FE0F6C5B}"/>
              </a:ext>
            </a:extLst>
          </p:cNvPr>
          <p:cNvSpPr txBox="1"/>
          <p:nvPr/>
        </p:nvSpPr>
        <p:spPr>
          <a:xfrm>
            <a:off x="990600" y="482600"/>
            <a:ext cx="863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Who changed what; trace every AI decision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4617D5-9E5A-1494-C890-86102F260970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DF24E3-3821-C59C-086F-A8BA64703F62}"/>
              </a:ext>
            </a:extLst>
          </p:cNvPr>
          <p:cNvSpPr/>
          <p:nvPr/>
        </p:nvSpPr>
        <p:spPr>
          <a:xfrm>
            <a:off x="10287000" y="203200"/>
            <a:ext cx="1498600" cy="4064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Phase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1542D3-1047-4404-7066-AE18F1963E55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5557BD-303B-01F8-AD9E-306769EB4F84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CC4445-50C1-7CC9-9018-86D253997A90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070E9-0914-87E4-EEE7-16FC6BC75DCF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66215D-F0AB-CA99-D645-4419CD85BC47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The control layer over everything else - and the answer to 'show me why the AI said this' when compliance asks.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95BD265-50BE-8146-F52A-4E5CB64515B9}"/>
              </a:ext>
            </a:extLst>
          </p:cNvPr>
          <p:cNvSpPr/>
          <p:nvPr/>
        </p:nvSpPr>
        <p:spPr>
          <a:xfrm>
            <a:off x="609600" y="1320800"/>
            <a:ext cx="5334000" cy="1778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72559C-8543-FEEE-28DD-5AB1DBDBB398}"/>
              </a:ext>
            </a:extLst>
          </p:cNvPr>
          <p:cNvSpPr/>
          <p:nvPr/>
        </p:nvSpPr>
        <p:spPr>
          <a:xfrm>
            <a:off x="609600" y="1422400"/>
            <a:ext cx="63500" cy="1574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925FF2-28D3-E28A-0922-8A466E60905F}"/>
              </a:ext>
            </a:extLst>
          </p:cNvPr>
          <p:cNvSpPr txBox="1"/>
          <p:nvPr/>
        </p:nvSpPr>
        <p:spPr>
          <a:xfrm>
            <a:off x="812800" y="13970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A. Change governance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55931F-DB2B-0211-C2D7-8AD877AA2B8F}"/>
              </a:ext>
            </a:extLst>
          </p:cNvPr>
          <p:cNvSpPr txBox="1"/>
          <p:nvPr/>
        </p:nvSpPr>
        <p:spPr>
          <a:xfrm>
            <a:off x="787400" y="1676400"/>
            <a:ext cx="5080000" cy="9618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Who can edit vs who approves (segregation of duties)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A change passes the eval gate AND a human approver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Where D-4 lands (approval ownership)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Tiered approval: a minor tweak vs a model swap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50B61D5-D73F-E3EC-7206-F4947D32827A}"/>
              </a:ext>
            </a:extLst>
          </p:cNvPr>
          <p:cNvSpPr/>
          <p:nvPr/>
        </p:nvSpPr>
        <p:spPr>
          <a:xfrm>
            <a:off x="6248400" y="1320800"/>
            <a:ext cx="5334000" cy="1778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8D92AB-CDF4-3ABB-9320-6971AF561F1E}"/>
              </a:ext>
            </a:extLst>
          </p:cNvPr>
          <p:cNvSpPr/>
          <p:nvPr/>
        </p:nvSpPr>
        <p:spPr>
          <a:xfrm>
            <a:off x="6248400" y="1422400"/>
            <a:ext cx="63500" cy="15748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D8F6C4-4A59-8B03-D972-F6D5FD833974}"/>
              </a:ext>
            </a:extLst>
          </p:cNvPr>
          <p:cNvSpPr txBox="1"/>
          <p:nvPr/>
        </p:nvSpPr>
        <p:spPr>
          <a:xfrm>
            <a:off x="6451600" y="1397000"/>
            <a:ext cx="4953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009EA8"/>
                </a:solidFill>
                <a:latin typeface="Segoe UI" panose="020B0502040204020203" pitchFamily="34" charset="0"/>
              </a:rPr>
              <a:t>B. Audit trail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653930-F757-BBC0-6EA1-852662F86686}"/>
              </a:ext>
            </a:extLst>
          </p:cNvPr>
          <p:cNvSpPr txBox="1"/>
          <p:nvPr/>
        </p:nvSpPr>
        <p:spPr>
          <a:xfrm>
            <a:off x="6426200" y="1676400"/>
            <a:ext cx="5080000" cy="96180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Every AI decision -&gt; prompt + model + data version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Every change logged (who / what / when / why)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Every access + guardrail decision logged</a:t>
            </a:r>
          </a:p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Disputed score -&gt; reconstruct exactly how it was made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2D8260D-50F7-45F5-00A3-2233818B0397}"/>
              </a:ext>
            </a:extLst>
          </p:cNvPr>
          <p:cNvSpPr/>
          <p:nvPr/>
        </p:nvSpPr>
        <p:spPr>
          <a:xfrm>
            <a:off x="609600" y="3200400"/>
            <a:ext cx="10972800" cy="685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218A7-E16C-B2E7-F3F1-375A975B3F66}"/>
              </a:ext>
            </a:extLst>
          </p:cNvPr>
          <p:cNvSpPr/>
          <p:nvPr/>
        </p:nvSpPr>
        <p:spPr>
          <a:xfrm>
            <a:off x="609600" y="3302000"/>
            <a:ext cx="63500" cy="4826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20C177-53C7-441C-CE1F-9D8B978D5A50}"/>
              </a:ext>
            </a:extLst>
          </p:cNvPr>
          <p:cNvSpPr txBox="1"/>
          <p:nvPr/>
        </p:nvSpPr>
        <p:spPr>
          <a:xfrm>
            <a:off x="812800" y="3276600"/>
            <a:ext cx="10795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2A76BE"/>
                </a:solidFill>
                <a:latin typeface="Segoe UI" panose="020B0502040204020203" pitchFamily="34" charset="0"/>
              </a:rPr>
              <a:t>Where it lives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178FBA-ADED-2F3C-920B-453864E22DF7}"/>
              </a:ext>
            </a:extLst>
          </p:cNvPr>
          <p:cNvSpPr txBox="1"/>
          <p:nvPr/>
        </p:nvSpPr>
        <p:spPr>
          <a:xfrm>
            <a:off x="787400" y="35560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spcAft>
                <a:spcPts val="500"/>
              </a:spcAft>
              <a:buFont typeface="+mj-lt"/>
              <a:buChar char="•"/>
            </a:pPr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Audit log -&gt; Azure SQL + compliance viewer    .    Approvals -&gt; registry / CI-CD    .    Access -&gt; Entra ID + RBAC (admin / coach / manager / QA / agent)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259EA1-C9C2-154C-5E4F-281A6CD9F71B}"/>
              </a:ext>
            </a:extLst>
          </p:cNvPr>
          <p:cNvSpPr txBox="1"/>
          <p:nvPr/>
        </p:nvSpPr>
        <p:spPr>
          <a:xfrm>
            <a:off x="609600" y="4013200"/>
            <a:ext cx="109728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16A078"/>
                </a:solidFill>
                <a:latin typeface="Segoe UI" panose="020B0502040204020203" pitchFamily="34" charset="0"/>
              </a:rPr>
              <a:t>Not optional for a BPO handling insurance / customer data. Directly serves the RAI pillars: transparency, accountability, and human oversight.</a:t>
            </a:r>
            <a:endParaRPr lang="en-IN" sz="1100" b="1">
              <a:solidFill>
                <a:srgbClr val="16A0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115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B8BEF0-E803-98CE-8911-A090F512FD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FD2CC-A655-A58D-F7EC-72162DD9951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4C18F-778B-3503-2DF8-002E1626C3A4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APIX: The Use Case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3D857-A8F0-1310-B9F2-34AD4024ABCF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>
                <a:solidFill>
                  <a:srgbClr val="A0CDD7"/>
                </a:solidFill>
                <a:latin typeface="Segoe UI" panose="020B0502040204020203" pitchFamily="34" charset="0"/>
              </a:rPr>
              <a:t>Afni Performance Intelligence 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7CEE8D-7C2E-C7ED-7422-1B8009BE9A2F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40F6B9-338C-6868-769A-37CBE91A301A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BBDAB-B55B-0856-54AC-014E72001DD2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D4E5F-00D3-42EF-1751-C9FF45799677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3EBA78-094A-050C-C590-BF9C3870AE42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1BB6F4-6E02-1D6B-1127-6D06796738FF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An enterprise AI platform that turns call-center conversations into performance intelligence and coaching for agents, coaches, and managers.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2453E5-D2C8-21AA-BBB5-56C3A2CE2D26}"/>
              </a:ext>
            </a:extLst>
          </p:cNvPr>
          <p:cNvSpPr/>
          <p:nvPr/>
        </p:nvSpPr>
        <p:spPr>
          <a:xfrm>
            <a:off x="609600" y="1473200"/>
            <a:ext cx="3505200" cy="317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B185F8-42ED-64FB-0DE8-48919464C6F0}"/>
              </a:ext>
            </a:extLst>
          </p:cNvPr>
          <p:cNvSpPr/>
          <p:nvPr/>
        </p:nvSpPr>
        <p:spPr>
          <a:xfrm>
            <a:off x="609600" y="1574800"/>
            <a:ext cx="63500" cy="29718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B201A6-8C1C-312F-629A-AF2769E48AD4}"/>
              </a:ext>
            </a:extLst>
          </p:cNvPr>
          <p:cNvSpPr txBox="1"/>
          <p:nvPr/>
        </p:nvSpPr>
        <p:spPr>
          <a:xfrm>
            <a:off x="863600" y="1651000"/>
            <a:ext cx="3048000" cy="2872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700" b="1">
                <a:solidFill>
                  <a:srgbClr val="2A76BE"/>
                </a:solidFill>
                <a:latin typeface="Segoe UI" panose="020B0502040204020203" pitchFamily="34" charset="0"/>
              </a:rPr>
              <a:t>AI Pipeline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83B3D1-B920-EE28-257D-22EBA379B6BD}"/>
              </a:ext>
            </a:extLst>
          </p:cNvPr>
          <p:cNvSpPr txBox="1"/>
          <p:nvPr/>
        </p:nvSpPr>
        <p:spPr>
          <a:xfrm>
            <a:off x="863600" y="2006600"/>
            <a:ext cx="3048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Produces the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1E95EB-8FD9-1CC9-66BA-F0AC5B2ACD53}"/>
              </a:ext>
            </a:extLst>
          </p:cNvPr>
          <p:cNvSpPr txBox="1"/>
          <p:nvPr/>
        </p:nvSpPr>
        <p:spPr>
          <a:xfrm>
            <a:off x="863600" y="2362200"/>
            <a:ext cx="30480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606A7A"/>
                </a:solidFill>
                <a:latin typeface="Segoe UI" panose="020B0502040204020203" pitchFamily="34" charset="0"/>
              </a:rPr>
              <a:t>Batch CLI. Analyzes transcripts with Azure OpenAI; publishes weekly per-agent reports, KPIs, and scores.</a:t>
            </a:r>
            <a:endParaRPr lang="en-IN" sz="12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76C95E-8D91-5B8F-8BD8-80A975437BA8}"/>
              </a:ext>
            </a:extLst>
          </p:cNvPr>
          <p:cNvSpPr/>
          <p:nvPr/>
        </p:nvSpPr>
        <p:spPr>
          <a:xfrm>
            <a:off x="4368800" y="1473200"/>
            <a:ext cx="3505200" cy="317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4E070E-0352-C71E-5ABE-92854F9230DE}"/>
              </a:ext>
            </a:extLst>
          </p:cNvPr>
          <p:cNvSpPr/>
          <p:nvPr/>
        </p:nvSpPr>
        <p:spPr>
          <a:xfrm>
            <a:off x="4368800" y="1574800"/>
            <a:ext cx="63500" cy="29718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9D149-2033-F8FA-2B58-142B5E3B0893}"/>
              </a:ext>
            </a:extLst>
          </p:cNvPr>
          <p:cNvSpPr txBox="1"/>
          <p:nvPr/>
        </p:nvSpPr>
        <p:spPr>
          <a:xfrm>
            <a:off x="4622800" y="1651000"/>
            <a:ext cx="3048000" cy="2872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700" b="1">
                <a:solidFill>
                  <a:srgbClr val="16A078"/>
                </a:solidFill>
                <a:latin typeface="Segoe UI" panose="020B0502040204020203" pitchFamily="34" charset="0"/>
              </a:rPr>
              <a:t>Dashboard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0D2545-EFC0-F5E6-DA82-459476CCDA53}"/>
              </a:ext>
            </a:extLst>
          </p:cNvPr>
          <p:cNvSpPr txBox="1"/>
          <p:nvPr/>
        </p:nvSpPr>
        <p:spPr>
          <a:xfrm>
            <a:off x="4622800" y="2006600"/>
            <a:ext cx="3048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Consumes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4F3E85-1EDC-A4AA-A977-B24DDBD1B794}"/>
              </a:ext>
            </a:extLst>
          </p:cNvPr>
          <p:cNvSpPr txBox="1"/>
          <p:nvPr/>
        </p:nvSpPr>
        <p:spPr>
          <a:xfrm>
            <a:off x="4622800" y="2362200"/>
            <a:ext cx="30480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>
                <a:solidFill>
                  <a:srgbClr val="606A7A"/>
                </a:solidFill>
                <a:latin typeface="Segoe UI" panose="020B0502040204020203" pitchFamily="34" charset="0"/>
              </a:rPr>
              <a:t>Streamlit + Plotly, RBAC via Entra SSO. Individual reports, performance metrics, manager overview, AI coaching tips.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0877F92-08B3-1782-DA00-D46235149515}"/>
              </a:ext>
            </a:extLst>
          </p:cNvPr>
          <p:cNvSpPr/>
          <p:nvPr/>
        </p:nvSpPr>
        <p:spPr>
          <a:xfrm>
            <a:off x="8128000" y="1473200"/>
            <a:ext cx="3505200" cy="317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0FC69A-2D2E-6399-B168-89C70C7B5F60}"/>
              </a:ext>
            </a:extLst>
          </p:cNvPr>
          <p:cNvSpPr/>
          <p:nvPr/>
        </p:nvSpPr>
        <p:spPr>
          <a:xfrm>
            <a:off x="8128000" y="1574800"/>
            <a:ext cx="63500" cy="29718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24D5E8-7A1E-9901-EFBD-9BA990B89021}"/>
              </a:ext>
            </a:extLst>
          </p:cNvPr>
          <p:cNvSpPr txBox="1"/>
          <p:nvPr/>
        </p:nvSpPr>
        <p:spPr>
          <a:xfrm>
            <a:off x="8382000" y="1651000"/>
            <a:ext cx="3048000" cy="28725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700" b="1">
                <a:solidFill>
                  <a:srgbClr val="8E5CB2"/>
                </a:solidFill>
                <a:latin typeface="Segoe UI" panose="020B0502040204020203" pitchFamily="34" charset="0"/>
              </a:rPr>
              <a:t>Chatbot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8105C-7C9F-7056-5265-7DD994D65E6F}"/>
              </a:ext>
            </a:extLst>
          </p:cNvPr>
          <p:cNvSpPr txBox="1"/>
          <p:nvPr/>
        </p:nvSpPr>
        <p:spPr>
          <a:xfrm>
            <a:off x="8382000" y="2006600"/>
            <a:ext cx="3048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Conversational analytics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78E0B7-D906-F147-D6D3-5AF97E2F1211}"/>
              </a:ext>
            </a:extLst>
          </p:cNvPr>
          <p:cNvSpPr txBox="1"/>
          <p:nvPr/>
        </p:nvSpPr>
        <p:spPr>
          <a:xfrm>
            <a:off x="8382000" y="2362200"/>
            <a:ext cx="3048000" cy="57964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>
                <a:solidFill>
                  <a:srgbClr val="606A7A"/>
                </a:solidFill>
                <a:latin typeface="Segoe UI" panose="020B0502040204020203" pitchFamily="34" charset="0"/>
              </a:rPr>
              <a:t>FastAPI + LangGraph. Natural-language questions -&gt; SQL -&gt; narrated answers, scoped to the user's agents.</a:t>
            </a:r>
            <a:endParaRPr lang="en-IN" sz="12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2406B7-6D88-7B67-E302-AED2C10E886E}"/>
              </a:ext>
            </a:extLst>
          </p:cNvPr>
          <p:cNvSpPr txBox="1"/>
          <p:nvPr/>
        </p:nvSpPr>
        <p:spPr>
          <a:xfrm>
            <a:off x="609600" y="4800600"/>
            <a:ext cx="109728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200" b="1">
                <a:solidFill>
                  <a:srgbClr val="122648"/>
                </a:solidFill>
                <a:latin typeface="Segoe UI" panose="020B0502040204020203" pitchFamily="34" charset="0"/>
              </a:rPr>
              <a:t>One monorepo, three independently deployable components: the pipeline produces data; the dashboard and chatbot consume it.</a:t>
            </a:r>
            <a:endParaRPr lang="en-IN" sz="12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255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ABBFE1-414B-2726-88A4-A9E7747328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920C58-8FEE-BF86-9237-5495654ADA56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85739-4D17-9F25-A7E3-73690A2F4DF5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APIX: The AI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B0E86-E745-97F5-BD75-F7B0D1C86132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Five steps - raw calls in, coaching intelligence out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9EAB59-156B-B527-EAC8-CBC8AE70B615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8E8C6-CBF3-167C-672B-D4AFAC352BF4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45D9F-70E0-2658-4ADA-470CD65CA8F2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316EA-EDB6-5D5B-9032-BD149AE3C89D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3D0600-C28A-6955-35B6-8E86DB06DE2D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2A6606-4661-0A7C-99A7-55A661E5D650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Denoise and analysis run daily; summary, metrics, and KPI roll-up run weekly. Only the analysis step uses AI judgment.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5010B8-7470-3265-F002-3C4DE050E0E4}"/>
              </a:ext>
            </a:extLst>
          </p:cNvPr>
          <p:cNvSpPr/>
          <p:nvPr/>
        </p:nvSpPr>
        <p:spPr>
          <a:xfrm>
            <a:off x="609600" y="1422400"/>
            <a:ext cx="10972800" cy="711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389E4F-3189-47C3-BC4C-A2BBBC97A4C1}"/>
              </a:ext>
            </a:extLst>
          </p:cNvPr>
          <p:cNvSpPr/>
          <p:nvPr/>
        </p:nvSpPr>
        <p:spPr>
          <a:xfrm>
            <a:off x="609600" y="1524000"/>
            <a:ext cx="63500" cy="5080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4B6FD0-FA4F-DAEC-C857-472CF2D34A58}"/>
              </a:ext>
            </a:extLst>
          </p:cNvPr>
          <p:cNvSpPr txBox="1"/>
          <p:nvPr/>
        </p:nvSpPr>
        <p:spPr>
          <a:xfrm>
            <a:off x="863600" y="1524000"/>
            <a:ext cx="3175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2A76BE"/>
                </a:solidFill>
                <a:latin typeface="Segoe UI" panose="020B0502040204020203" pitchFamily="34" charset="0"/>
              </a:rPr>
              <a:t>1  Denoise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83825D-847F-AF85-A5FE-86D458C06C23}"/>
              </a:ext>
            </a:extLst>
          </p:cNvPr>
          <p:cNvSpPr txBox="1"/>
          <p:nvPr/>
        </p:nvSpPr>
        <p:spPr>
          <a:xfrm>
            <a:off x="3810000" y="1536700"/>
            <a:ext cx="596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Raw transcripts -&gt; cleaned schema, enriched with coach hierarchy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AB661A-612B-BC7F-5C62-C0F89BEB6A7F}"/>
              </a:ext>
            </a:extLst>
          </p:cNvPr>
          <p:cNvSpPr/>
          <p:nvPr/>
        </p:nvSpPr>
        <p:spPr>
          <a:xfrm>
            <a:off x="10058400" y="1612900"/>
            <a:ext cx="1320800" cy="330200"/>
          </a:xfrm>
          <a:prstGeom prst="round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LLM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461F2E-E2FD-BFB0-3911-4A4D13FE3DD8}"/>
              </a:ext>
            </a:extLst>
          </p:cNvPr>
          <p:cNvSpPr/>
          <p:nvPr/>
        </p:nvSpPr>
        <p:spPr>
          <a:xfrm>
            <a:off x="609600" y="2209800"/>
            <a:ext cx="10972800" cy="711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ECF242-FD5C-87D5-1757-C14B97CDD4A2}"/>
              </a:ext>
            </a:extLst>
          </p:cNvPr>
          <p:cNvSpPr/>
          <p:nvPr/>
        </p:nvSpPr>
        <p:spPr>
          <a:xfrm>
            <a:off x="609600" y="2311400"/>
            <a:ext cx="63500" cy="5080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FED8F8-0855-20C2-B497-3C52EDA236C5}"/>
              </a:ext>
            </a:extLst>
          </p:cNvPr>
          <p:cNvSpPr txBox="1"/>
          <p:nvPr/>
        </p:nvSpPr>
        <p:spPr>
          <a:xfrm>
            <a:off x="863600" y="2311400"/>
            <a:ext cx="3175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16A078"/>
                </a:solidFill>
                <a:latin typeface="Segoe UI" panose="020B0502040204020203" pitchFamily="34" charset="0"/>
              </a:rPr>
              <a:t>2 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A22FB5-9DE1-E00D-D637-48C5B4DDE5E4}"/>
              </a:ext>
            </a:extLst>
          </p:cNvPr>
          <p:cNvSpPr txBox="1"/>
          <p:nvPr/>
        </p:nvSpPr>
        <p:spPr>
          <a:xfrm>
            <a:off x="3810000" y="2324100"/>
            <a:ext cx="596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Per-call LLM evaluation via program-specific structured output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614F33E-D843-0B0F-931C-0CB61051282B}"/>
              </a:ext>
            </a:extLst>
          </p:cNvPr>
          <p:cNvSpPr/>
          <p:nvPr/>
        </p:nvSpPr>
        <p:spPr>
          <a:xfrm>
            <a:off x="10058400" y="2400300"/>
            <a:ext cx="1320800" cy="3302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LLM (reasoning)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EE7A656-6E7C-3B69-51EF-BFB4A745ADE0}"/>
              </a:ext>
            </a:extLst>
          </p:cNvPr>
          <p:cNvSpPr/>
          <p:nvPr/>
        </p:nvSpPr>
        <p:spPr>
          <a:xfrm>
            <a:off x="609600" y="2997200"/>
            <a:ext cx="10972800" cy="711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412C96-EF08-6975-E40A-03CF5D9DE63A}"/>
              </a:ext>
            </a:extLst>
          </p:cNvPr>
          <p:cNvSpPr/>
          <p:nvPr/>
        </p:nvSpPr>
        <p:spPr>
          <a:xfrm>
            <a:off x="609600" y="3098800"/>
            <a:ext cx="63500" cy="5080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828F8E-C47B-4BC0-C05C-F3D23CC6FD5C}"/>
              </a:ext>
            </a:extLst>
          </p:cNvPr>
          <p:cNvSpPr txBox="1"/>
          <p:nvPr/>
        </p:nvSpPr>
        <p:spPr>
          <a:xfrm>
            <a:off x="863600" y="3098800"/>
            <a:ext cx="3175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009EA8"/>
                </a:solidFill>
                <a:latin typeface="Segoe UI" panose="020B0502040204020203" pitchFamily="34" charset="0"/>
              </a:rPr>
              <a:t>3  Summary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EE762E-1B42-6809-75DC-9C278F24F26C}"/>
              </a:ext>
            </a:extLst>
          </p:cNvPr>
          <p:cNvSpPr txBox="1"/>
          <p:nvPr/>
        </p:nvSpPr>
        <p:spPr>
          <a:xfrm>
            <a:off x="3810000" y="3111500"/>
            <a:ext cx="596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7 days of analysis -&gt; per-employee weekly report JSON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3BEBD56-B4B4-ABB3-F47C-5673037E21B0}"/>
              </a:ext>
            </a:extLst>
          </p:cNvPr>
          <p:cNvSpPr/>
          <p:nvPr/>
        </p:nvSpPr>
        <p:spPr>
          <a:xfrm>
            <a:off x="10058400" y="3187700"/>
            <a:ext cx="1320800" cy="330200"/>
          </a:xfrm>
          <a:prstGeom prst="round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LLM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A3F0938-3F42-ADD2-D659-16B53E273C50}"/>
              </a:ext>
            </a:extLst>
          </p:cNvPr>
          <p:cNvSpPr/>
          <p:nvPr/>
        </p:nvSpPr>
        <p:spPr>
          <a:xfrm>
            <a:off x="609600" y="3784600"/>
            <a:ext cx="10972800" cy="711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F8145F-5686-F1E1-DC5D-11D68BA94499}"/>
              </a:ext>
            </a:extLst>
          </p:cNvPr>
          <p:cNvSpPr/>
          <p:nvPr/>
        </p:nvSpPr>
        <p:spPr>
          <a:xfrm>
            <a:off x="609600" y="3886200"/>
            <a:ext cx="63500" cy="5080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2CBABD-D5A2-D73D-81AF-2603F42BD004}"/>
              </a:ext>
            </a:extLst>
          </p:cNvPr>
          <p:cNvSpPr txBox="1"/>
          <p:nvPr/>
        </p:nvSpPr>
        <p:spPr>
          <a:xfrm>
            <a:off x="863600" y="3886200"/>
            <a:ext cx="3175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CD8712"/>
                </a:solidFill>
                <a:latin typeface="Segoe UI" panose="020B0502040204020203" pitchFamily="34" charset="0"/>
              </a:rPr>
              <a:t>4  Individual Metrics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B482BE-16AC-BF95-4192-C12526856E90}"/>
              </a:ext>
            </a:extLst>
          </p:cNvPr>
          <p:cNvSpPr txBox="1"/>
          <p:nvPr/>
        </p:nvSpPr>
        <p:spPr>
          <a:xfrm>
            <a:off x="3810000" y="3898900"/>
            <a:ext cx="596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Operational metrics merged from Azure SQL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56BEC24-882D-2735-8B90-7E5F15713AA9}"/>
              </a:ext>
            </a:extLst>
          </p:cNvPr>
          <p:cNvSpPr/>
          <p:nvPr/>
        </p:nvSpPr>
        <p:spPr>
          <a:xfrm>
            <a:off x="10058400" y="3975100"/>
            <a:ext cx="1320800" cy="330200"/>
          </a:xfrm>
          <a:prstGeom prst="round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SQL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FF232BF-62F5-F275-7A5C-8566BA693DD1}"/>
              </a:ext>
            </a:extLst>
          </p:cNvPr>
          <p:cNvSpPr/>
          <p:nvPr/>
        </p:nvSpPr>
        <p:spPr>
          <a:xfrm>
            <a:off x="609600" y="4572000"/>
            <a:ext cx="10972800" cy="7112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D21CB3-1F03-856E-4929-20ED78AC5646}"/>
              </a:ext>
            </a:extLst>
          </p:cNvPr>
          <p:cNvSpPr/>
          <p:nvPr/>
        </p:nvSpPr>
        <p:spPr>
          <a:xfrm>
            <a:off x="609600" y="4673600"/>
            <a:ext cx="63500" cy="5080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11D659-2D60-206E-3115-B11ACC4C060B}"/>
              </a:ext>
            </a:extLst>
          </p:cNvPr>
          <p:cNvSpPr txBox="1"/>
          <p:nvPr/>
        </p:nvSpPr>
        <p:spPr>
          <a:xfrm>
            <a:off x="863600" y="4673600"/>
            <a:ext cx="3175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500" b="1">
                <a:solidFill>
                  <a:srgbClr val="8E5CB2"/>
                </a:solidFill>
                <a:latin typeface="Segoe UI" panose="020B0502040204020203" pitchFamily="34" charset="0"/>
              </a:rPr>
              <a:t>5  KPI Roll-up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E94415-E156-1AFC-EA85-5F33D00EF76B}"/>
              </a:ext>
            </a:extLst>
          </p:cNvPr>
          <p:cNvSpPr txBox="1"/>
          <p:nvPr/>
        </p:nvSpPr>
        <p:spPr>
          <a:xfrm>
            <a:off x="3810000" y="4686300"/>
            <a:ext cx="5969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Flatten to KPI CSV + weighted performance score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991907F-E32F-C0BC-7743-480A9134AAD7}"/>
              </a:ext>
            </a:extLst>
          </p:cNvPr>
          <p:cNvSpPr/>
          <p:nvPr/>
        </p:nvSpPr>
        <p:spPr>
          <a:xfrm>
            <a:off x="10058400" y="4762500"/>
            <a:ext cx="1320800" cy="330200"/>
          </a:xfrm>
          <a:prstGeom prst="round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Python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4BA42A-29C4-A5CB-B97E-1C4E66BFF98E}"/>
              </a:ext>
            </a:extLst>
          </p:cNvPr>
          <p:cNvSpPr txBox="1"/>
          <p:nvPr/>
        </p:nvSpPr>
        <p:spPr>
          <a:xfrm>
            <a:off x="609600" y="5410200"/>
            <a:ext cx="109728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Model: Azure OpenAI gpt-5-nano  .  throttle ~950 req/min, 400 concurrent  .  structured output via per-program Pydantic schemas</a:t>
            </a:r>
          </a:p>
        </p:txBody>
      </p:sp>
    </p:spTree>
    <p:extLst>
      <p:ext uri="{BB962C8B-B14F-4D97-AF65-F5344CB8AC3E}">
        <p14:creationId xmlns:p14="http://schemas.microsoft.com/office/powerpoint/2010/main" val="84200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B1CF1C-EF5A-D7A8-AE47-27F8C9C337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6E3395-5D7A-13B3-3653-69DA062303E1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28A32-698B-C949-0E20-4845A15C774C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APIX: Programs &amp;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C1696-E9DE-A061-D935-133FBB5ECECD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The scoring model behind every agent report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0A5917-1424-BCAE-CA51-5AC79F84C2AE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9BD8C-0A29-744B-D227-EBA807C94894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A13CD-E0E3-4C86-929A-BF58B7AAC774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4248C-39B1-7B8E-1974-CCEFDC41E110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0541F5-9FE3-FFE0-9F97-52A8694D463B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D02A0-F68B-45B8-5EC5-26B9AFAD06FF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Four programs, each with its own prompts, schema, KPIs, and behaviours - but one shared composite scoring model.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702B0-6AF3-8110-3B7D-CE2338B16EC1}"/>
              </a:ext>
            </a:extLst>
          </p:cNvPr>
          <p:cNvSpPr txBox="1"/>
          <p:nvPr/>
        </p:nvSpPr>
        <p:spPr>
          <a:xfrm>
            <a:off x="609600" y="1320800"/>
            <a:ext cx="6350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Composite performance score (0-100)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46D9562-772E-0C9A-03CC-7530D08F101D}"/>
              </a:ext>
            </a:extLst>
          </p:cNvPr>
          <p:cNvSpPr/>
          <p:nvPr/>
        </p:nvSpPr>
        <p:spPr>
          <a:xfrm>
            <a:off x="609600" y="1625600"/>
            <a:ext cx="1676400" cy="812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763ECC-A5B4-6D85-1FAB-BBFC17D04999}"/>
              </a:ext>
            </a:extLst>
          </p:cNvPr>
          <p:cNvSpPr/>
          <p:nvPr/>
        </p:nvSpPr>
        <p:spPr>
          <a:xfrm>
            <a:off x="609600" y="1727200"/>
            <a:ext cx="63500" cy="6096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5CBC15-D05D-171A-B774-45765418FF2A}"/>
              </a:ext>
            </a:extLst>
          </p:cNvPr>
          <p:cNvSpPr txBox="1"/>
          <p:nvPr/>
        </p:nvSpPr>
        <p:spPr>
          <a:xfrm>
            <a:off x="787400" y="1701800"/>
            <a:ext cx="13716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000" b="1">
                <a:solidFill>
                  <a:srgbClr val="2A76BE"/>
                </a:solidFill>
                <a:latin typeface="Segoe UI" panose="020B0502040204020203" pitchFamily="34" charset="0"/>
              </a:rPr>
              <a:t>40%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3FCE6-B069-08D4-7B62-62FEA957F7CD}"/>
              </a:ext>
            </a:extLst>
          </p:cNvPr>
          <p:cNvSpPr txBox="1"/>
          <p:nvPr/>
        </p:nvSpPr>
        <p:spPr>
          <a:xfrm>
            <a:off x="787400" y="2057400"/>
            <a:ext cx="13716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122648"/>
                </a:solidFill>
                <a:latin typeface="Segoe UI" panose="020B0502040204020203" pitchFamily="34" charset="0"/>
              </a:rPr>
              <a:t>Quality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A8B914-B975-6E65-27FB-CEB67841F430}"/>
              </a:ext>
            </a:extLst>
          </p:cNvPr>
          <p:cNvSpPr/>
          <p:nvPr/>
        </p:nvSpPr>
        <p:spPr>
          <a:xfrm>
            <a:off x="2387600" y="1625600"/>
            <a:ext cx="1676400" cy="812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044CC3-8D4A-E5D9-D6D1-CF43583A8FDC}"/>
              </a:ext>
            </a:extLst>
          </p:cNvPr>
          <p:cNvSpPr/>
          <p:nvPr/>
        </p:nvSpPr>
        <p:spPr>
          <a:xfrm>
            <a:off x="2387600" y="1727200"/>
            <a:ext cx="63500" cy="609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345FF6-527F-7375-2E8D-95FAEFC10D7E}"/>
              </a:ext>
            </a:extLst>
          </p:cNvPr>
          <p:cNvSpPr txBox="1"/>
          <p:nvPr/>
        </p:nvSpPr>
        <p:spPr>
          <a:xfrm>
            <a:off x="2565400" y="1701800"/>
            <a:ext cx="13716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000" b="1">
                <a:solidFill>
                  <a:srgbClr val="16A078"/>
                </a:solidFill>
                <a:latin typeface="Segoe UI" panose="020B0502040204020203" pitchFamily="34" charset="0"/>
              </a:rPr>
              <a:t>30%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240874-7350-C7B5-50CA-E37786574818}"/>
              </a:ext>
            </a:extLst>
          </p:cNvPr>
          <p:cNvSpPr txBox="1"/>
          <p:nvPr/>
        </p:nvSpPr>
        <p:spPr>
          <a:xfrm>
            <a:off x="2565400" y="2057400"/>
            <a:ext cx="13716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122648"/>
                </a:solidFill>
                <a:latin typeface="Segoe UI" panose="020B0502040204020203" pitchFamily="34" charset="0"/>
              </a:rPr>
              <a:t>Target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C4D311D-10AB-9EA5-F27F-06CA6791A5DF}"/>
              </a:ext>
            </a:extLst>
          </p:cNvPr>
          <p:cNvSpPr/>
          <p:nvPr/>
        </p:nvSpPr>
        <p:spPr>
          <a:xfrm>
            <a:off x="4165600" y="1625600"/>
            <a:ext cx="1676400" cy="812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8637E7-1D3B-AADA-67CE-83C0258DBAA8}"/>
              </a:ext>
            </a:extLst>
          </p:cNvPr>
          <p:cNvSpPr/>
          <p:nvPr/>
        </p:nvSpPr>
        <p:spPr>
          <a:xfrm>
            <a:off x="4165600" y="1727200"/>
            <a:ext cx="63500" cy="6096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429D7E-4A3D-1393-4B6F-D34458500A65}"/>
              </a:ext>
            </a:extLst>
          </p:cNvPr>
          <p:cNvSpPr txBox="1"/>
          <p:nvPr/>
        </p:nvSpPr>
        <p:spPr>
          <a:xfrm>
            <a:off x="4343400" y="1701800"/>
            <a:ext cx="13716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000" b="1">
                <a:solidFill>
                  <a:srgbClr val="009EA8"/>
                </a:solidFill>
                <a:latin typeface="Segoe UI" panose="020B0502040204020203" pitchFamily="34" charset="0"/>
              </a:rPr>
              <a:t>20%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BEDD31-CE2E-606A-6710-BD11477B19FD}"/>
              </a:ext>
            </a:extLst>
          </p:cNvPr>
          <p:cNvSpPr txBox="1"/>
          <p:nvPr/>
        </p:nvSpPr>
        <p:spPr>
          <a:xfrm>
            <a:off x="4343400" y="2057400"/>
            <a:ext cx="13716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122648"/>
                </a:solidFill>
                <a:latin typeface="Segoe UI" panose="020B0502040204020203" pitchFamily="34" charset="0"/>
              </a:rPr>
              <a:t>Trend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448DB85-3519-8AFA-7A40-2B4046C53512}"/>
              </a:ext>
            </a:extLst>
          </p:cNvPr>
          <p:cNvSpPr/>
          <p:nvPr/>
        </p:nvSpPr>
        <p:spPr>
          <a:xfrm>
            <a:off x="5943600" y="1625600"/>
            <a:ext cx="1676400" cy="812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D2CF3B-55DE-8E23-AB83-2FD7DF8A72EA}"/>
              </a:ext>
            </a:extLst>
          </p:cNvPr>
          <p:cNvSpPr/>
          <p:nvPr/>
        </p:nvSpPr>
        <p:spPr>
          <a:xfrm>
            <a:off x="5943600" y="1727200"/>
            <a:ext cx="63500" cy="6096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EC0C6D-DC01-3D2C-C722-715A3A4E4849}"/>
              </a:ext>
            </a:extLst>
          </p:cNvPr>
          <p:cNvSpPr txBox="1"/>
          <p:nvPr/>
        </p:nvSpPr>
        <p:spPr>
          <a:xfrm>
            <a:off x="6121400" y="1701800"/>
            <a:ext cx="1371600" cy="3334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000" b="1">
                <a:solidFill>
                  <a:srgbClr val="CD8712"/>
                </a:solidFill>
                <a:latin typeface="Segoe UI" panose="020B0502040204020203" pitchFamily="34" charset="0"/>
              </a:rPr>
              <a:t>10%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5C9996-F1D0-7E87-FDAB-5C94837C13D3}"/>
              </a:ext>
            </a:extLst>
          </p:cNvPr>
          <p:cNvSpPr txBox="1"/>
          <p:nvPr/>
        </p:nvSpPr>
        <p:spPr>
          <a:xfrm>
            <a:off x="6121400" y="2057400"/>
            <a:ext cx="13716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122648"/>
                </a:solidFill>
                <a:latin typeface="Segoe UI" panose="020B0502040204020203" pitchFamily="34" charset="0"/>
              </a:rPr>
              <a:t>Penalty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F64C09-E52A-47B9-11F3-05459D73F5CB}"/>
              </a:ext>
            </a:extLst>
          </p:cNvPr>
          <p:cNvSpPr txBox="1"/>
          <p:nvPr/>
        </p:nvSpPr>
        <p:spPr>
          <a:xfrm>
            <a:off x="609600" y="2514600"/>
            <a:ext cx="6350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606A7A"/>
                </a:solidFill>
                <a:latin typeface="Segoe UI" panose="020B0502040204020203" pitchFamily="34" charset="0"/>
              </a:rPr>
              <a:t>Status bands:  &gt;=80 Strong   .   &gt;=70 Developing   .   else Focus</a:t>
            </a:r>
            <a:endParaRPr lang="en-IN" sz="11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8CB9BD-062F-D679-1803-943ACF3FFF4E}"/>
              </a:ext>
            </a:extLst>
          </p:cNvPr>
          <p:cNvSpPr/>
          <p:nvPr/>
        </p:nvSpPr>
        <p:spPr>
          <a:xfrm>
            <a:off x="609600" y="2921000"/>
            <a:ext cx="1651000" cy="3556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Program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932146-5CAD-DE9E-5691-1A4C31BCD153}"/>
              </a:ext>
            </a:extLst>
          </p:cNvPr>
          <p:cNvSpPr/>
          <p:nvPr/>
        </p:nvSpPr>
        <p:spPr>
          <a:xfrm>
            <a:off x="2260600" y="2921000"/>
            <a:ext cx="3048000" cy="3556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Scope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2A225B4-A129-9499-CEFE-1048616DA714}"/>
              </a:ext>
            </a:extLst>
          </p:cNvPr>
          <p:cNvSpPr/>
          <p:nvPr/>
        </p:nvSpPr>
        <p:spPr>
          <a:xfrm>
            <a:off x="5308600" y="2921000"/>
            <a:ext cx="2540000" cy="3556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Behaviours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9F5917-F106-BF90-3DCE-26229F60FA3B}"/>
              </a:ext>
            </a:extLst>
          </p:cNvPr>
          <p:cNvSpPr/>
          <p:nvPr/>
        </p:nvSpPr>
        <p:spPr>
          <a:xfrm>
            <a:off x="7848600" y="2921000"/>
            <a:ext cx="3683000" cy="3556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Example KPIs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832185-A92D-2639-8C00-466E9D470902}"/>
              </a:ext>
            </a:extLst>
          </p:cNvPr>
          <p:cNvSpPr/>
          <p:nvPr/>
        </p:nvSpPr>
        <p:spPr>
          <a:xfrm>
            <a:off x="609600" y="3276600"/>
            <a:ext cx="1651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Telesales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0E8FA1-7B90-1289-937C-2A1512E304CD}"/>
              </a:ext>
            </a:extLst>
          </p:cNvPr>
          <p:cNvSpPr/>
          <p:nvPr/>
        </p:nvSpPr>
        <p:spPr>
          <a:xfrm>
            <a:off x="2260600" y="3276600"/>
            <a:ext cx="3048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VZW outbound sales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3A20B5-E9B3-A821-1CC8-D648C5642D24}"/>
              </a:ext>
            </a:extLst>
          </p:cNvPr>
          <p:cNvSpPr/>
          <p:nvPr/>
        </p:nvSpPr>
        <p:spPr>
          <a:xfrm>
            <a:off x="5308600" y="3276600"/>
            <a:ext cx="2540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14 skills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100AD06-A9D2-8876-B15D-F447F78CF0BF}"/>
              </a:ext>
            </a:extLst>
          </p:cNvPr>
          <p:cNvSpPr/>
          <p:nvPr/>
        </p:nvSpPr>
        <p:spPr>
          <a:xfrm>
            <a:off x="7848600" y="3276600"/>
            <a:ext cx="3683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new_line_pitches, upgrade_attempts, save_attempts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7F3710-62B6-59A0-0401-158969F2DF58}"/>
              </a:ext>
            </a:extLst>
          </p:cNvPr>
          <p:cNvSpPr/>
          <p:nvPr/>
        </p:nvSpPr>
        <p:spPr>
          <a:xfrm>
            <a:off x="609600" y="3657600"/>
            <a:ext cx="1651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WCC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E42F9F-6A9A-5D13-E057-8E1F9BE9D6BF}"/>
              </a:ext>
            </a:extLst>
          </p:cNvPr>
          <p:cNvSpPr/>
          <p:nvPr/>
        </p:nvSpPr>
        <p:spPr>
          <a:xfrm>
            <a:off x="2260600" y="3657600"/>
            <a:ext cx="3048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Wireless customer care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D94E0C-EBB7-8FEF-4624-A69FCD04D0CE}"/>
              </a:ext>
            </a:extLst>
          </p:cNvPr>
          <p:cNvSpPr/>
          <p:nvPr/>
        </p:nvSpPr>
        <p:spPr>
          <a:xfrm>
            <a:off x="5308600" y="3657600"/>
            <a:ext cx="2540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~20 skills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89FB69-D2C1-F210-284C-497AA5A60A5E}"/>
              </a:ext>
            </a:extLst>
          </p:cNvPr>
          <p:cNvSpPr/>
          <p:nvPr/>
        </p:nvSpPr>
        <p:spPr>
          <a:xfrm>
            <a:off x="7848600" y="3657600"/>
            <a:ext cx="3683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resolution_actual, save_actual, sale_actual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5ECB1F-A3D3-9633-D3E7-8F874A589201}"/>
              </a:ext>
            </a:extLst>
          </p:cNvPr>
          <p:cNvSpPr/>
          <p:nvPr/>
        </p:nvSpPr>
        <p:spPr>
          <a:xfrm>
            <a:off x="609600" y="4038600"/>
            <a:ext cx="1651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PSO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D6B938-0124-A2BF-A95B-3D7147A3C8E6}"/>
              </a:ext>
            </a:extLst>
          </p:cNvPr>
          <p:cNvSpPr/>
          <p:nvPr/>
        </p:nvSpPr>
        <p:spPr>
          <a:xfrm>
            <a:off x="2260600" y="4038600"/>
            <a:ext cx="3048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VZ Mobile service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A5F7A4-00E5-C076-0866-577C015952F6}"/>
              </a:ext>
            </a:extLst>
          </p:cNvPr>
          <p:cNvSpPr/>
          <p:nvPr/>
        </p:nvSpPr>
        <p:spPr>
          <a:xfrm>
            <a:off x="5308600" y="4038600"/>
            <a:ext cx="2540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13 skills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ACB54C9-96F1-1CAA-11C2-AFCB081238F7}"/>
              </a:ext>
            </a:extLst>
          </p:cNvPr>
          <p:cNvSpPr/>
          <p:nvPr/>
        </p:nvSpPr>
        <p:spPr>
          <a:xfrm>
            <a:off x="7848600" y="4038600"/>
            <a:ext cx="3683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100">
                <a:solidFill>
                  <a:srgbClr val="262B34"/>
                </a:solidFill>
                <a:latin typeface="Segoe UI" panose="020B0502040204020203" pitchFamily="34" charset="0"/>
              </a:rPr>
              <a:t>fcr_likelihood, predicted_csat, quality, compliance</a:t>
            </a:r>
            <a:endParaRPr lang="en-IN" sz="11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66764E-0F1F-FC4F-4D36-F057CD880AC5}"/>
              </a:ext>
            </a:extLst>
          </p:cNvPr>
          <p:cNvSpPr/>
          <p:nvPr/>
        </p:nvSpPr>
        <p:spPr>
          <a:xfrm>
            <a:off x="609600" y="4419600"/>
            <a:ext cx="1651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base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8B187A-A45E-7E00-2932-CC32EE4E5850}"/>
              </a:ext>
            </a:extLst>
          </p:cNvPr>
          <p:cNvSpPr/>
          <p:nvPr/>
        </p:nvSpPr>
        <p:spPr>
          <a:xfrm>
            <a:off x="2260600" y="4419600"/>
            <a:ext cx="3048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Shared defaults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D7D4EF7-F7C9-A9BF-286B-D6FF1E89A5C7}"/>
              </a:ext>
            </a:extLst>
          </p:cNvPr>
          <p:cNvSpPr/>
          <p:nvPr/>
        </p:nvSpPr>
        <p:spPr>
          <a:xfrm>
            <a:off x="5308600" y="4419600"/>
            <a:ext cx="2540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6 core soft skills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86E03B-CE49-8C97-50C7-E7166DF9C09B}"/>
              </a:ext>
            </a:extLst>
          </p:cNvPr>
          <p:cNvSpPr/>
          <p:nvPr/>
        </p:nvSpPr>
        <p:spPr>
          <a:xfrm>
            <a:off x="7848600" y="4419600"/>
            <a:ext cx="3683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Comprehension, Emotional Intelligence, SME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B825E6-5DDB-07EF-03F9-75420C197363}"/>
              </a:ext>
            </a:extLst>
          </p:cNvPr>
          <p:cNvSpPr txBox="1"/>
          <p:nvPr/>
        </p:nvSpPr>
        <p:spPr>
          <a:xfrm>
            <a:off x="609600" y="4927600"/>
            <a:ext cx="109728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122648"/>
                </a:solidFill>
                <a:latin typeface="Segoe UI" panose="020B0502040204020203" pitchFamily="34" charset="0"/>
              </a:rPr>
              <a:t>Behaviours are 0/1 per call, aggregated to 0-1 rates. overall_behavior_score = mean of all behaviour + soft-skill scores x 100.</a:t>
            </a:r>
            <a:endParaRPr lang="en-IN" sz="11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284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F5AD63-F782-0985-4760-6F56EFE8B1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B81F75-0093-54AC-8CAD-D4241D809124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3B4E8-13CE-CB29-D1B2-95CF1010CB88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APIX: Run Economics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C469D-5DFA-9F62-0FC3-33CDDCFD7456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Why model choice and LLMOps cost control matter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77925E-21A1-3C90-468B-3FD6C15B1CEA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683B83-D276-2AA8-5BD5-F63E4AA1998D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734BF-E5C3-3C67-BFD4-A91DDC3D8D5C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EC09D-4B63-5BFF-3508-38B41D7FC467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A8FC1-8FE9-74D8-2BEE-AFD040841B74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F675C-5872-61E8-0124-10809D99F9F5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At 100,000 calls/day, model choice alone moves the monthly bill by thousands - exactly what FinOps governance protects.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002818-99AA-DF3B-B918-EBF4B526C57A}"/>
              </a:ext>
            </a:extLst>
          </p:cNvPr>
          <p:cNvSpPr/>
          <p:nvPr/>
        </p:nvSpPr>
        <p:spPr>
          <a:xfrm>
            <a:off x="609600" y="1447800"/>
            <a:ext cx="2590800" cy="1168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DBEB13-6540-539C-0BF2-1DDEC68A28F2}"/>
              </a:ext>
            </a:extLst>
          </p:cNvPr>
          <p:cNvSpPr/>
          <p:nvPr/>
        </p:nvSpPr>
        <p:spPr>
          <a:xfrm>
            <a:off x="609600" y="1549400"/>
            <a:ext cx="63500" cy="9652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8B7CA8-6C2C-77EC-9208-32D44DAAC35F}"/>
              </a:ext>
            </a:extLst>
          </p:cNvPr>
          <p:cNvSpPr txBox="1"/>
          <p:nvPr/>
        </p:nvSpPr>
        <p:spPr>
          <a:xfrm>
            <a:off x="812800" y="1574800"/>
            <a:ext cx="2235200" cy="3949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400" b="1">
                <a:solidFill>
                  <a:srgbClr val="16A078"/>
                </a:solidFill>
                <a:latin typeface="Segoe UI" panose="020B0502040204020203" pitchFamily="34" charset="0"/>
              </a:rPr>
              <a:t>~$2,735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1C7091-5DD9-AF90-A07B-E2F20DF9BE34}"/>
              </a:ext>
            </a:extLst>
          </p:cNvPr>
          <p:cNvSpPr txBox="1"/>
          <p:nvPr/>
        </p:nvSpPr>
        <p:spPr>
          <a:xfrm>
            <a:off x="812800" y="2057400"/>
            <a:ext cx="22352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per month, all-in (100k calls/day)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F42A25-59DC-24E6-CB39-2806D04F7D27}"/>
              </a:ext>
            </a:extLst>
          </p:cNvPr>
          <p:cNvSpPr/>
          <p:nvPr/>
        </p:nvSpPr>
        <p:spPr>
          <a:xfrm>
            <a:off x="3352800" y="1447800"/>
            <a:ext cx="2590800" cy="1168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0E9378-CD1B-5042-CB6A-C456381E6B7E}"/>
              </a:ext>
            </a:extLst>
          </p:cNvPr>
          <p:cNvSpPr/>
          <p:nvPr/>
        </p:nvSpPr>
        <p:spPr>
          <a:xfrm>
            <a:off x="3352800" y="1549400"/>
            <a:ext cx="63500" cy="9652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D66B44-08F5-DA6B-03D7-88A1904E9563}"/>
              </a:ext>
            </a:extLst>
          </p:cNvPr>
          <p:cNvSpPr txBox="1"/>
          <p:nvPr/>
        </p:nvSpPr>
        <p:spPr>
          <a:xfrm>
            <a:off x="3556000" y="1574800"/>
            <a:ext cx="2235200" cy="3949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400" b="1">
                <a:solidFill>
                  <a:srgbClr val="2A76BE"/>
                </a:solidFill>
                <a:latin typeface="Segoe UI" panose="020B0502040204020203" pitchFamily="34" charset="0"/>
              </a:rPr>
              <a:t>$0.0009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B09AED-ED65-F50E-EF07-3F82A84B5B33}"/>
              </a:ext>
            </a:extLst>
          </p:cNvPr>
          <p:cNvSpPr txBox="1"/>
          <p:nvPr/>
        </p:nvSpPr>
        <p:spPr>
          <a:xfrm>
            <a:off x="3556000" y="2057400"/>
            <a:ext cx="22352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606A7A"/>
                </a:solidFill>
                <a:latin typeface="Segoe UI" panose="020B0502040204020203" pitchFamily="34" charset="0"/>
              </a:rPr>
              <a:t>per call analyzed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AD0593-C70F-D9F9-9AC3-19070209591B}"/>
              </a:ext>
            </a:extLst>
          </p:cNvPr>
          <p:cNvSpPr/>
          <p:nvPr/>
        </p:nvSpPr>
        <p:spPr>
          <a:xfrm>
            <a:off x="6096000" y="1447800"/>
            <a:ext cx="2590800" cy="1168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BEE76E-9F31-4FAC-B2A1-A4A257800F65}"/>
              </a:ext>
            </a:extLst>
          </p:cNvPr>
          <p:cNvSpPr/>
          <p:nvPr/>
        </p:nvSpPr>
        <p:spPr>
          <a:xfrm>
            <a:off x="6096000" y="1549400"/>
            <a:ext cx="63500" cy="9652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B8C061-11E3-31A9-998C-E427D319A655}"/>
              </a:ext>
            </a:extLst>
          </p:cNvPr>
          <p:cNvSpPr txBox="1"/>
          <p:nvPr/>
        </p:nvSpPr>
        <p:spPr>
          <a:xfrm>
            <a:off x="6299200" y="1574800"/>
            <a:ext cx="2235200" cy="3949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400" b="1">
                <a:solidFill>
                  <a:srgbClr val="CD8712"/>
                </a:solidFill>
                <a:latin typeface="Segoe UI" panose="020B0502040204020203" pitchFamily="34" charset="0"/>
              </a:rPr>
              <a:t>63%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674F88-B918-695F-7246-203701D15BBF}"/>
              </a:ext>
            </a:extLst>
          </p:cNvPr>
          <p:cNvSpPr txBox="1"/>
          <p:nvPr/>
        </p:nvSpPr>
        <p:spPr>
          <a:xfrm>
            <a:off x="6299200" y="2057400"/>
            <a:ext cx="22352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of cost is the AI model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9E43A1D-E460-EE69-582D-CA89800F1969}"/>
              </a:ext>
            </a:extLst>
          </p:cNvPr>
          <p:cNvSpPr/>
          <p:nvPr/>
        </p:nvSpPr>
        <p:spPr>
          <a:xfrm>
            <a:off x="8839200" y="1447800"/>
            <a:ext cx="2590800" cy="1168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36EE14-91A3-212A-E746-81F28756B983}"/>
              </a:ext>
            </a:extLst>
          </p:cNvPr>
          <p:cNvSpPr/>
          <p:nvPr/>
        </p:nvSpPr>
        <p:spPr>
          <a:xfrm>
            <a:off x="8839200" y="1549400"/>
            <a:ext cx="63500" cy="965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51D0FB-DFB3-D508-6E4C-A0E1B83BDBBE}"/>
              </a:ext>
            </a:extLst>
          </p:cNvPr>
          <p:cNvSpPr txBox="1"/>
          <p:nvPr/>
        </p:nvSpPr>
        <p:spPr>
          <a:xfrm>
            <a:off x="9042400" y="1574800"/>
            <a:ext cx="2235200" cy="3949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400" b="1">
                <a:solidFill>
                  <a:srgbClr val="8E5CB2"/>
                </a:solidFill>
                <a:latin typeface="Segoe UI" panose="020B0502040204020203" pitchFamily="34" charset="0"/>
              </a:rPr>
              <a:t>55%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AF579D-CE09-49E9-30DD-403F812F53C7}"/>
              </a:ext>
            </a:extLst>
          </p:cNvPr>
          <p:cNvSpPr txBox="1"/>
          <p:nvPr/>
        </p:nvSpPr>
        <p:spPr>
          <a:xfrm>
            <a:off x="9042400" y="2057400"/>
            <a:ext cx="22352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606A7A"/>
                </a:solidFill>
                <a:latin typeface="Segoe UI" panose="020B0502040204020203" pitchFamily="34" charset="0"/>
              </a:rPr>
              <a:t>saved vs GPT-4o-mini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B9159F-38F2-8849-391C-337F580F6DA6}"/>
              </a:ext>
            </a:extLst>
          </p:cNvPr>
          <p:cNvSpPr txBox="1"/>
          <p:nvPr/>
        </p:nvSpPr>
        <p:spPr>
          <a:xfrm>
            <a:off x="609600" y="2844800"/>
            <a:ext cx="6350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122648"/>
                </a:solidFill>
                <a:latin typeface="Segoe UI" panose="020B0502040204020203" pitchFamily="34" charset="0"/>
              </a:rPr>
              <a:t>Phased rollout - cost scales with volume</a:t>
            </a:r>
            <a:endParaRPr lang="en-IN" sz="13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98E080-E4C1-3EA5-A022-81E10E7018B5}"/>
              </a:ext>
            </a:extLst>
          </p:cNvPr>
          <p:cNvSpPr/>
          <p:nvPr/>
        </p:nvSpPr>
        <p:spPr>
          <a:xfrm>
            <a:off x="609600" y="3175000"/>
            <a:ext cx="2794000" cy="3556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Phase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DF17FE-C442-52EF-002F-8B05B882396D}"/>
              </a:ext>
            </a:extLst>
          </p:cNvPr>
          <p:cNvSpPr/>
          <p:nvPr/>
        </p:nvSpPr>
        <p:spPr>
          <a:xfrm>
            <a:off x="3403600" y="3175000"/>
            <a:ext cx="2540000" cy="3556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Calls / day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7C6531-12B3-F8C7-0A85-F26E44FFE0FF}"/>
              </a:ext>
            </a:extLst>
          </p:cNvPr>
          <p:cNvSpPr/>
          <p:nvPr/>
        </p:nvSpPr>
        <p:spPr>
          <a:xfrm>
            <a:off x="5943600" y="3175000"/>
            <a:ext cx="2921000" cy="3556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Monthly cost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649629-9810-7F5D-C9F0-D32B689A6D97}"/>
              </a:ext>
            </a:extLst>
          </p:cNvPr>
          <p:cNvSpPr/>
          <p:nvPr/>
        </p:nvSpPr>
        <p:spPr>
          <a:xfrm>
            <a:off x="8864600" y="3175000"/>
            <a:ext cx="2717800" cy="3556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Segoe UI" panose="020B0502040204020203" pitchFamily="34" charset="0"/>
              </a:rPr>
              <a:t>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AC9F27-35FA-2A39-4F86-83FD5C246183}"/>
              </a:ext>
            </a:extLst>
          </p:cNvPr>
          <p:cNvSpPr/>
          <p:nvPr/>
        </p:nvSpPr>
        <p:spPr>
          <a:xfrm>
            <a:off x="609600" y="3530600"/>
            <a:ext cx="2794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Phase 1 - pilot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B408CA-9F9B-AE45-6C98-38B87632F092}"/>
              </a:ext>
            </a:extLst>
          </p:cNvPr>
          <p:cNvSpPr/>
          <p:nvPr/>
        </p:nvSpPr>
        <p:spPr>
          <a:xfrm>
            <a:off x="3403600" y="3530600"/>
            <a:ext cx="2540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100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30E4BC-08DA-56AC-99F2-98CD85BC3F15}"/>
              </a:ext>
            </a:extLst>
          </p:cNvPr>
          <p:cNvSpPr/>
          <p:nvPr/>
        </p:nvSpPr>
        <p:spPr>
          <a:xfrm>
            <a:off x="5943600" y="3530600"/>
            <a:ext cx="2921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~$202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5E2E78-AC04-85DC-7332-E7544B394993}"/>
              </a:ext>
            </a:extLst>
          </p:cNvPr>
          <p:cNvSpPr/>
          <p:nvPr/>
        </p:nvSpPr>
        <p:spPr>
          <a:xfrm>
            <a:off x="8864600" y="3530600"/>
            <a:ext cx="27178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gpt-5-nano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6C2702-EF64-D168-5345-2E8F8DA8CC31}"/>
              </a:ext>
            </a:extLst>
          </p:cNvPr>
          <p:cNvSpPr/>
          <p:nvPr/>
        </p:nvSpPr>
        <p:spPr>
          <a:xfrm>
            <a:off x="609600" y="3911600"/>
            <a:ext cx="279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Phase 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1EA347-69C5-1F00-08B9-3D0343688B44}"/>
              </a:ext>
            </a:extLst>
          </p:cNvPr>
          <p:cNvSpPr/>
          <p:nvPr/>
        </p:nvSpPr>
        <p:spPr>
          <a:xfrm>
            <a:off x="3403600" y="3911600"/>
            <a:ext cx="2540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1,000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8692DD9-DC50-2F65-7F8D-637C7C458B5A}"/>
              </a:ext>
            </a:extLst>
          </p:cNvPr>
          <p:cNvSpPr/>
          <p:nvPr/>
        </p:nvSpPr>
        <p:spPr>
          <a:xfrm>
            <a:off x="5943600" y="3911600"/>
            <a:ext cx="2921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~$317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BB872D4-15F5-1B6B-64DA-FADE3434EB2B}"/>
              </a:ext>
            </a:extLst>
          </p:cNvPr>
          <p:cNvSpPr/>
          <p:nvPr/>
        </p:nvSpPr>
        <p:spPr>
          <a:xfrm>
            <a:off x="8864600" y="3911600"/>
            <a:ext cx="27178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gpt-5-nano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289D1C-95FC-8E7E-82A2-95A1987D21B1}"/>
              </a:ext>
            </a:extLst>
          </p:cNvPr>
          <p:cNvSpPr/>
          <p:nvPr/>
        </p:nvSpPr>
        <p:spPr>
          <a:xfrm>
            <a:off x="609600" y="4292600"/>
            <a:ext cx="2794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Phase 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A53D79-1364-211E-AB21-F6B90FA82AC8}"/>
              </a:ext>
            </a:extLst>
          </p:cNvPr>
          <p:cNvSpPr/>
          <p:nvPr/>
        </p:nvSpPr>
        <p:spPr>
          <a:xfrm>
            <a:off x="3403600" y="4292600"/>
            <a:ext cx="2540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10,000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1319FC-AAA5-DC18-3253-785306E637FA}"/>
              </a:ext>
            </a:extLst>
          </p:cNvPr>
          <p:cNvSpPr/>
          <p:nvPr/>
        </p:nvSpPr>
        <p:spPr>
          <a:xfrm>
            <a:off x="5943600" y="4292600"/>
            <a:ext cx="29210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~$673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7A5B65A-DEB5-32C8-2F6F-F37B5A6F20C2}"/>
              </a:ext>
            </a:extLst>
          </p:cNvPr>
          <p:cNvSpPr/>
          <p:nvPr/>
        </p:nvSpPr>
        <p:spPr>
          <a:xfrm>
            <a:off x="8864600" y="4292600"/>
            <a:ext cx="2717800" cy="3810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gpt-5-nano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FDA8EC-7197-5408-D8E4-64269BDF8047}"/>
              </a:ext>
            </a:extLst>
          </p:cNvPr>
          <p:cNvSpPr/>
          <p:nvPr/>
        </p:nvSpPr>
        <p:spPr>
          <a:xfrm>
            <a:off x="609600" y="4673600"/>
            <a:ext cx="2794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Phase 4 - full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E41A38D-2E61-8348-74F2-C947AEF1BE5D}"/>
              </a:ext>
            </a:extLst>
          </p:cNvPr>
          <p:cNvSpPr/>
          <p:nvPr/>
        </p:nvSpPr>
        <p:spPr>
          <a:xfrm>
            <a:off x="3403600" y="4673600"/>
            <a:ext cx="2540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100,000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98DFA9-9C4E-CB55-80F7-9DFD3AAE0293}"/>
              </a:ext>
            </a:extLst>
          </p:cNvPr>
          <p:cNvSpPr/>
          <p:nvPr/>
        </p:nvSpPr>
        <p:spPr>
          <a:xfrm>
            <a:off x="5943600" y="4673600"/>
            <a:ext cx="2921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~$2,735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FBEDFD3-2FE5-B472-E6B0-CB088D3E8EF6}"/>
              </a:ext>
            </a:extLst>
          </p:cNvPr>
          <p:cNvSpPr/>
          <p:nvPr/>
        </p:nvSpPr>
        <p:spPr>
          <a:xfrm>
            <a:off x="8864600" y="4673600"/>
            <a:ext cx="27178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100">
                <a:solidFill>
                  <a:srgbClr val="262B34"/>
                </a:solidFill>
                <a:latin typeface="Segoe UI" panose="020B0502040204020203" pitchFamily="34" charset="0"/>
              </a:rPr>
              <a:t>gpt-5-nano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AE8DA2-B11A-1F9E-E1FC-E9772FFD3BF3}"/>
              </a:ext>
            </a:extLst>
          </p:cNvPr>
          <p:cNvSpPr txBox="1"/>
          <p:nvPr/>
        </p:nvSpPr>
        <p:spPr>
          <a:xfrm>
            <a:off x="609600" y="5130800"/>
            <a:ext cx="109728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 b="1">
                <a:solidFill>
                  <a:srgbClr val="122648"/>
                </a:solidFill>
                <a:latin typeface="Segoe UI" panose="020B0502040204020203" pitchFamily="34" charset="0"/>
              </a:rPr>
              <a:t>gpt-5-nano: $0.05 input / $0.40 output per 1M tokens, 400K context. Recommended over GPT-4o-mini ($3,825/mo) and GPT-5-mini ($8,625/mo).</a:t>
            </a:r>
          </a:p>
        </p:txBody>
      </p:sp>
    </p:spTree>
    <p:extLst>
      <p:ext uri="{BB962C8B-B14F-4D97-AF65-F5344CB8AC3E}">
        <p14:creationId xmlns:p14="http://schemas.microsoft.com/office/powerpoint/2010/main" val="725863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F0D92F-2D7E-DF75-0C81-82E6102B1D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C33EF6-920F-7D24-79C6-EB0C9CD73CE1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56A8D-CE0E-4AE5-A836-F9A0CB259F0D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Patterns &amp; Frameworks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E9AEF-6D3E-C71A-8399-EE6397522153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Patterns are how we build; LLMOps wraps all of them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D1AD2-B446-087F-842E-ED444A16A8CB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863C14-7627-FBDE-92A7-3F401EF0C355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2C538-C97F-25F3-AB1C-F59AC8A163F5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97D5B3-B70E-0D60-5F12-BC51ED31C421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19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624824-1FEF-2719-45DF-7D29EC9370DA}"/>
              </a:ext>
            </a:extLst>
          </p:cNvPr>
          <p:cNvSpPr/>
          <p:nvPr/>
        </p:nvSpPr>
        <p:spPr>
          <a:xfrm>
            <a:off x="406400" y="990600"/>
            <a:ext cx="635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8059B8-D777-FA06-3172-2C3947DD68B1}"/>
              </a:ext>
            </a:extLst>
          </p:cNvPr>
          <p:cNvSpPr txBox="1"/>
          <p:nvPr/>
        </p:nvSpPr>
        <p:spPr>
          <a:xfrm>
            <a:off x="584200" y="965200"/>
            <a:ext cx="1104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>
                <a:solidFill>
                  <a:srgbClr val="606A7A"/>
                </a:solidFill>
                <a:latin typeface="Segoe UI" panose="020B0502040204020203" pitchFamily="34" charset="0"/>
              </a:rPr>
              <a:t>Choose the pattern by the problem, not the trend - and keep every pattern under the same LLMOps governance.</a:t>
            </a:r>
            <a:endParaRPr lang="en-IN" sz="13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51BB4-5197-7587-84D5-AB69A92424C6}"/>
              </a:ext>
            </a:extLst>
          </p:cNvPr>
          <p:cNvSpPr/>
          <p:nvPr/>
        </p:nvSpPr>
        <p:spPr>
          <a:xfrm>
            <a:off x="609600" y="1397000"/>
            <a:ext cx="1905000" cy="3556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Pattern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A2C5F1-07EA-589E-E7B8-FD04BA45F127}"/>
              </a:ext>
            </a:extLst>
          </p:cNvPr>
          <p:cNvSpPr/>
          <p:nvPr/>
        </p:nvSpPr>
        <p:spPr>
          <a:xfrm>
            <a:off x="2514600" y="1397000"/>
            <a:ext cx="4191000" cy="3556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Framework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DE93AC-F395-816E-28FD-B859C366D2A1}"/>
              </a:ext>
            </a:extLst>
          </p:cNvPr>
          <p:cNvSpPr/>
          <p:nvPr/>
        </p:nvSpPr>
        <p:spPr>
          <a:xfrm>
            <a:off x="6705600" y="1397000"/>
            <a:ext cx="4876800" cy="3556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Best fit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A13D03-60D0-A974-CD4C-88EFD4A6C987}"/>
              </a:ext>
            </a:extLst>
          </p:cNvPr>
          <p:cNvSpPr/>
          <p:nvPr/>
        </p:nvSpPr>
        <p:spPr>
          <a:xfrm>
            <a:off x="609600" y="1752600"/>
            <a:ext cx="1905000" cy="5588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RAG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1E7888-DF43-49A2-0B04-3561F80CAEFB}"/>
              </a:ext>
            </a:extLst>
          </p:cNvPr>
          <p:cNvSpPr/>
          <p:nvPr/>
        </p:nvSpPr>
        <p:spPr>
          <a:xfrm>
            <a:off x="2514600" y="1752600"/>
            <a:ext cx="4191000" cy="5588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it-IT" sz="1300">
                <a:solidFill>
                  <a:srgbClr val="262B34"/>
                </a:solidFill>
                <a:latin typeface="Segoe UI" panose="020B0502040204020203" pitchFamily="34" charset="0"/>
              </a:rPr>
              <a:t>Azure AI Search + Azure OpenAI</a:t>
            </a:r>
            <a:endParaRPr lang="en-IN" sz="13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88996-B5AF-DC03-E23B-EFAE4D9CA206}"/>
              </a:ext>
            </a:extLst>
          </p:cNvPr>
          <p:cNvSpPr/>
          <p:nvPr/>
        </p:nvSpPr>
        <p:spPr>
          <a:xfrm>
            <a:off x="6705600" y="1752600"/>
            <a:ext cx="4876800" cy="5588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300">
                <a:solidFill>
                  <a:srgbClr val="262B34"/>
                </a:solidFill>
                <a:latin typeface="Segoe UI" panose="020B0502040204020203" pitchFamily="34" charset="0"/>
              </a:rPr>
              <a:t>Knowledge Q&amp;A, agent assist, citations</a:t>
            </a:r>
            <a:endParaRPr lang="en-IN" sz="13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7EFA9B-8865-FB98-1B70-3FCFE5F18C89}"/>
              </a:ext>
            </a:extLst>
          </p:cNvPr>
          <p:cNvSpPr/>
          <p:nvPr/>
        </p:nvSpPr>
        <p:spPr>
          <a:xfrm>
            <a:off x="609600" y="2311400"/>
            <a:ext cx="19050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Agent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21961E-18DD-7A5B-7691-9CA9FAE78E4A}"/>
              </a:ext>
            </a:extLst>
          </p:cNvPr>
          <p:cNvSpPr/>
          <p:nvPr/>
        </p:nvSpPr>
        <p:spPr>
          <a:xfrm>
            <a:off x="2514600" y="2311400"/>
            <a:ext cx="41910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300">
                <a:solidFill>
                  <a:srgbClr val="262B34"/>
                </a:solidFill>
                <a:latin typeface="Segoe UI" panose="020B0502040204020203" pitchFamily="34" charset="0"/>
              </a:rPr>
              <a:t>Azure Foundry Agents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9A5B66-29CB-688F-3D43-60CA6294D10B}"/>
              </a:ext>
            </a:extLst>
          </p:cNvPr>
          <p:cNvSpPr/>
          <p:nvPr/>
        </p:nvSpPr>
        <p:spPr>
          <a:xfrm>
            <a:off x="6705600" y="2311400"/>
            <a:ext cx="4876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US" sz="1300">
                <a:solidFill>
                  <a:srgbClr val="262B34"/>
                </a:solidFill>
                <a:latin typeface="Segoe UI" panose="020B0502040204020203" pitchFamily="34" charset="0"/>
              </a:rPr>
              <a:t>Chatbot, dynamic tool use (NL -&gt; SQL)</a:t>
            </a:r>
            <a:endParaRPr lang="en-IN" sz="13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75822E-29EA-58D2-1F25-A2D37CC7A13E}"/>
              </a:ext>
            </a:extLst>
          </p:cNvPr>
          <p:cNvSpPr/>
          <p:nvPr/>
        </p:nvSpPr>
        <p:spPr>
          <a:xfrm>
            <a:off x="609600" y="2870200"/>
            <a:ext cx="1905000" cy="5588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Multi-Agent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FACCA4-C231-049B-F7FE-8DD26D4102E8}"/>
              </a:ext>
            </a:extLst>
          </p:cNvPr>
          <p:cNvSpPr/>
          <p:nvPr/>
        </p:nvSpPr>
        <p:spPr>
          <a:xfrm>
            <a:off x="2514600" y="2870200"/>
            <a:ext cx="4191000" cy="5588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300">
                <a:solidFill>
                  <a:srgbClr val="262B34"/>
                </a:solidFill>
                <a:latin typeface="Segoe UI" panose="020B0502040204020203" pitchFamily="34" charset="0"/>
              </a:rPr>
              <a:t>LangGraph + Azure Foundry Agents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A978C3-98AB-427A-79F0-9003305FF581}"/>
              </a:ext>
            </a:extLst>
          </p:cNvPr>
          <p:cNvSpPr/>
          <p:nvPr/>
        </p:nvSpPr>
        <p:spPr>
          <a:xfrm>
            <a:off x="6705600" y="2870200"/>
            <a:ext cx="4876800" cy="558800"/>
          </a:xfrm>
          <a:prstGeom prst="rect">
            <a:avLst/>
          </a:prstGeom>
          <a:solidFill>
            <a:srgbClr val="F0F3F7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12700" bIns="12700" rtlCol="0" anchor="ctr"/>
          <a:lstStyle/>
          <a:p>
            <a:pPr algn="ctr"/>
            <a:r>
              <a:rPr lang="en-IN" sz="1300">
                <a:solidFill>
                  <a:srgbClr val="262B34"/>
                </a:solidFill>
                <a:latin typeface="Segoe UI" panose="020B0502040204020203" pitchFamily="34" charset="0"/>
              </a:rPr>
              <a:t>Complex orchestrated reasoning (future)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596432-687A-9893-20DD-C5C06D1DA016}"/>
              </a:ext>
            </a:extLst>
          </p:cNvPr>
          <p:cNvSpPr txBox="1"/>
          <p:nvPr/>
        </p:nvSpPr>
        <p:spPr>
          <a:xfrm>
            <a:off x="609600" y="3530600"/>
            <a:ext cx="10922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Applying it to APIX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408316E-CEA0-CEA6-A38B-6E5E62C36889}"/>
              </a:ext>
            </a:extLst>
          </p:cNvPr>
          <p:cNvSpPr/>
          <p:nvPr/>
        </p:nvSpPr>
        <p:spPr>
          <a:xfrm>
            <a:off x="609600" y="3835400"/>
            <a:ext cx="109728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FB2D83-F8B1-F12A-A4C8-A7D50B4DA96C}"/>
              </a:ext>
            </a:extLst>
          </p:cNvPr>
          <p:cNvSpPr/>
          <p:nvPr/>
        </p:nvSpPr>
        <p:spPr>
          <a:xfrm>
            <a:off x="609600" y="3937000"/>
            <a:ext cx="63500" cy="3302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3A01E6-B9E6-28CD-EA8B-B9F695ABC3DB}"/>
              </a:ext>
            </a:extLst>
          </p:cNvPr>
          <p:cNvSpPr txBox="1"/>
          <p:nvPr/>
        </p:nvSpPr>
        <p:spPr>
          <a:xfrm>
            <a:off x="838200" y="3962400"/>
            <a:ext cx="5969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fi-FI" sz="1200">
                <a:solidFill>
                  <a:srgbClr val="262B34"/>
                </a:solidFill>
                <a:latin typeface="Segoe UI" panose="020B0502040204020203" pitchFamily="34" charset="0"/>
              </a:rPr>
              <a:t>AI Pipeline  (denoise -&gt; analysis -&gt; summary)</a:t>
            </a:r>
            <a:endParaRPr lang="en-IN" sz="12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4448EE47-BE94-C03D-83B2-8FCFACDDBB3A}"/>
              </a:ext>
            </a:extLst>
          </p:cNvPr>
          <p:cNvSpPr/>
          <p:nvPr/>
        </p:nvSpPr>
        <p:spPr>
          <a:xfrm>
            <a:off x="6858000" y="4025900"/>
            <a:ext cx="304800" cy="152400"/>
          </a:xfrm>
          <a:prstGeom prst="rightArrow">
            <a:avLst/>
          </a:prstGeom>
          <a:solidFill>
            <a:srgbClr val="D6DB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E33FE0-F32D-DFFA-6D22-E8803E3048D7}"/>
              </a:ext>
            </a:extLst>
          </p:cNvPr>
          <p:cNvSpPr txBox="1"/>
          <p:nvPr/>
        </p:nvSpPr>
        <p:spPr>
          <a:xfrm>
            <a:off x="7366000" y="3962400"/>
            <a:ext cx="4064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Orchestrated tasks - NOT agents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C6FF693-2DA9-E358-F335-F5128D37CF66}"/>
              </a:ext>
            </a:extLst>
          </p:cNvPr>
          <p:cNvSpPr/>
          <p:nvPr/>
        </p:nvSpPr>
        <p:spPr>
          <a:xfrm>
            <a:off x="609600" y="4445000"/>
            <a:ext cx="109728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134AFA-C3AD-553E-2B6D-FF3FF3802FE1}"/>
              </a:ext>
            </a:extLst>
          </p:cNvPr>
          <p:cNvSpPr/>
          <p:nvPr/>
        </p:nvSpPr>
        <p:spPr>
          <a:xfrm>
            <a:off x="609600" y="4546600"/>
            <a:ext cx="63500" cy="3302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E9BF1-FF8B-6D8C-CA30-6461B647AB3A}"/>
              </a:ext>
            </a:extLst>
          </p:cNvPr>
          <p:cNvSpPr txBox="1"/>
          <p:nvPr/>
        </p:nvSpPr>
        <p:spPr>
          <a:xfrm>
            <a:off x="838200" y="4572000"/>
            <a:ext cx="5969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>
                <a:solidFill>
                  <a:srgbClr val="262B34"/>
                </a:solidFill>
                <a:latin typeface="Segoe UI" panose="020B0502040204020203" pitchFamily="34" charset="0"/>
              </a:rPr>
              <a:t>Chatbot / Analytics Assistant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DF3C589E-6EAB-8860-2916-F6B907315F5A}"/>
              </a:ext>
            </a:extLst>
          </p:cNvPr>
          <p:cNvSpPr/>
          <p:nvPr/>
        </p:nvSpPr>
        <p:spPr>
          <a:xfrm>
            <a:off x="6858000" y="4635500"/>
            <a:ext cx="304800" cy="152400"/>
          </a:xfrm>
          <a:prstGeom prst="rightArrow">
            <a:avLst/>
          </a:prstGeom>
          <a:solidFill>
            <a:srgbClr val="D6DB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E6511E-76FF-7DFC-E605-2468BA79124A}"/>
              </a:ext>
            </a:extLst>
          </p:cNvPr>
          <p:cNvSpPr txBox="1"/>
          <p:nvPr/>
        </p:nvSpPr>
        <p:spPr>
          <a:xfrm>
            <a:off x="7366000" y="4572000"/>
            <a:ext cx="4064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6A078"/>
                </a:solidFill>
                <a:latin typeface="Segoe UI" panose="020B0502040204020203" pitchFamily="34" charset="0"/>
              </a:rPr>
              <a:t>Agent  (Foundry Agents)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B959F99-B6EE-AF9D-71AB-5D91FC173AF5}"/>
              </a:ext>
            </a:extLst>
          </p:cNvPr>
          <p:cNvSpPr/>
          <p:nvPr/>
        </p:nvSpPr>
        <p:spPr>
          <a:xfrm>
            <a:off x="609600" y="5054600"/>
            <a:ext cx="109728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82CB9B4-F33E-49F8-8642-687B2599431C}"/>
              </a:ext>
            </a:extLst>
          </p:cNvPr>
          <p:cNvSpPr/>
          <p:nvPr/>
        </p:nvSpPr>
        <p:spPr>
          <a:xfrm>
            <a:off x="609600" y="5156200"/>
            <a:ext cx="63500" cy="3302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7BA42-3C49-AF1E-B476-AADF3551A302}"/>
              </a:ext>
            </a:extLst>
          </p:cNvPr>
          <p:cNvSpPr txBox="1"/>
          <p:nvPr/>
        </p:nvSpPr>
        <p:spPr>
          <a:xfrm>
            <a:off x="838200" y="5181600"/>
            <a:ext cx="5969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>
                <a:solidFill>
                  <a:srgbClr val="262B34"/>
                </a:solidFill>
                <a:latin typeface="Segoe UI" panose="020B0502040204020203" pitchFamily="34" charset="0"/>
              </a:rPr>
              <a:t>Future knowledge-assist use cases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011FC289-1756-D011-EFFA-C9B7DBD24365}"/>
              </a:ext>
            </a:extLst>
          </p:cNvPr>
          <p:cNvSpPr/>
          <p:nvPr/>
        </p:nvSpPr>
        <p:spPr>
          <a:xfrm>
            <a:off x="6858000" y="5245100"/>
            <a:ext cx="304800" cy="152400"/>
          </a:xfrm>
          <a:prstGeom prst="rightArrow">
            <a:avLst/>
          </a:prstGeom>
          <a:solidFill>
            <a:srgbClr val="D6DB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F5689C-F72E-C5E7-2BC1-7DE95EBEEA3A}"/>
              </a:ext>
            </a:extLst>
          </p:cNvPr>
          <p:cNvSpPr txBox="1"/>
          <p:nvPr/>
        </p:nvSpPr>
        <p:spPr>
          <a:xfrm>
            <a:off x="7366000" y="5181600"/>
            <a:ext cx="4064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2A76BE"/>
                </a:solidFill>
                <a:latin typeface="Segoe UI" panose="020B0502040204020203" pitchFamily="34" charset="0"/>
              </a:rPr>
              <a:t>RAG  (Azure AI Search)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C992449-2D25-2E79-53E0-AF7C98CEF8AB}"/>
              </a:ext>
            </a:extLst>
          </p:cNvPr>
          <p:cNvSpPr/>
          <p:nvPr/>
        </p:nvSpPr>
        <p:spPr>
          <a:xfrm>
            <a:off x="609600" y="5664200"/>
            <a:ext cx="109728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97FC33-9D7B-7BF3-64DB-EAFC19C4111E}"/>
              </a:ext>
            </a:extLst>
          </p:cNvPr>
          <p:cNvSpPr/>
          <p:nvPr/>
        </p:nvSpPr>
        <p:spPr>
          <a:xfrm>
            <a:off x="609600" y="5765800"/>
            <a:ext cx="63500" cy="330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86A075-AEE5-59DD-86B3-DD70C8695BC8}"/>
              </a:ext>
            </a:extLst>
          </p:cNvPr>
          <p:cNvSpPr txBox="1"/>
          <p:nvPr/>
        </p:nvSpPr>
        <p:spPr>
          <a:xfrm>
            <a:off x="838200" y="5791200"/>
            <a:ext cx="5969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>
                <a:solidFill>
                  <a:srgbClr val="262B34"/>
                </a:solidFill>
                <a:latin typeface="Segoe UI" panose="020B0502040204020203" pitchFamily="34" charset="0"/>
              </a:rPr>
              <a:t>Future complex-reasoning use cases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4D6E8E5B-3285-F73F-4880-D8B3007F762D}"/>
              </a:ext>
            </a:extLst>
          </p:cNvPr>
          <p:cNvSpPr/>
          <p:nvPr/>
        </p:nvSpPr>
        <p:spPr>
          <a:xfrm>
            <a:off x="6858000" y="5854700"/>
            <a:ext cx="304800" cy="152400"/>
          </a:xfrm>
          <a:prstGeom prst="rightArrow">
            <a:avLst/>
          </a:prstGeom>
          <a:solidFill>
            <a:srgbClr val="D6DB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41FE4E-5531-7FF5-8DB8-22E09D13340F}"/>
              </a:ext>
            </a:extLst>
          </p:cNvPr>
          <p:cNvSpPr txBox="1"/>
          <p:nvPr/>
        </p:nvSpPr>
        <p:spPr>
          <a:xfrm>
            <a:off x="7366000" y="5791200"/>
            <a:ext cx="4064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8E5CB2"/>
                </a:solidFill>
                <a:latin typeface="Segoe UI" panose="020B0502040204020203" pitchFamily="34" charset="0"/>
              </a:rPr>
              <a:t>Multi-Agent  (LangGraph + Foundry)</a:t>
            </a:r>
          </a:p>
        </p:txBody>
      </p:sp>
    </p:spTree>
    <p:extLst>
      <p:ext uri="{BB962C8B-B14F-4D97-AF65-F5344CB8AC3E}">
        <p14:creationId xmlns:p14="http://schemas.microsoft.com/office/powerpoint/2010/main" val="414352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A0C82-6BCB-C5FF-59F7-DAD33C5D7D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49BA54-964D-9B36-7FC2-4F58BDA9F12A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99FB6-9FA5-06DF-53E0-63E488EAF1B6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Should the AI Pipeline Become Foundry Agents?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36D73-47B1-4839-CFFE-82E57C0CA2D6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100">
                <a:solidFill>
                  <a:srgbClr val="A0CDD7"/>
                </a:solidFill>
                <a:latin typeface="Segoe UI" panose="020B0502040204020203" pitchFamily="34" charset="0"/>
              </a:rPr>
              <a:t>A clear recommendation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99B535-AEA1-6E13-1CD1-0F17A25873CD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03F921-48FB-D7F6-3ABB-01705E605D21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1B4D8-3765-64C4-82BC-CCA447555DEB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A5192-43E6-4A75-78C7-6D7632F0C074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C325C7-56D9-B893-FA17-779360CDCF39}"/>
              </a:ext>
            </a:extLst>
          </p:cNvPr>
          <p:cNvSpPr/>
          <p:nvPr/>
        </p:nvSpPr>
        <p:spPr>
          <a:xfrm>
            <a:off x="609600" y="1168400"/>
            <a:ext cx="10972800" cy="660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86080-8E08-BB2D-4EA4-9345D5F2F1DB}"/>
              </a:ext>
            </a:extLst>
          </p:cNvPr>
          <p:cNvSpPr/>
          <p:nvPr/>
        </p:nvSpPr>
        <p:spPr>
          <a:xfrm>
            <a:off x="609600" y="1270000"/>
            <a:ext cx="63500" cy="4572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6F78A9-44A2-0090-E6A5-0037E3245353}"/>
              </a:ext>
            </a:extLst>
          </p:cNvPr>
          <p:cNvSpPr txBox="1"/>
          <p:nvPr/>
        </p:nvSpPr>
        <p:spPr>
          <a:xfrm>
            <a:off x="838200" y="1320800"/>
            <a:ext cx="10541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500" b="1">
                <a:solidFill>
                  <a:srgbClr val="122648"/>
                </a:solidFill>
                <a:latin typeface="Segoe UI" panose="020B0502040204020203" pitchFamily="34" charset="0"/>
              </a:rPr>
              <a:t>Q:  Convert the APIX pipeline into Azure Foundry Agents - is it good?</a:t>
            </a:r>
            <a:endParaRPr lang="en-IN" sz="1500" b="1">
              <a:solidFill>
                <a:srgbClr val="122648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4E0649-FDC2-D245-789A-68EB9BF4E2B7}"/>
              </a:ext>
            </a:extLst>
          </p:cNvPr>
          <p:cNvSpPr/>
          <p:nvPr/>
        </p:nvSpPr>
        <p:spPr>
          <a:xfrm>
            <a:off x="609600" y="1955800"/>
            <a:ext cx="10972800" cy="6096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0AA062-A591-3732-2F11-14D8C18A5044}"/>
              </a:ext>
            </a:extLst>
          </p:cNvPr>
          <p:cNvSpPr txBox="1"/>
          <p:nvPr/>
        </p:nvSpPr>
        <p:spPr>
          <a:xfrm>
            <a:off x="838200" y="2082800"/>
            <a:ext cx="10541000" cy="27186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A:  Not for the core pipeline. Use agents where autonomy is genuinely needed.</a:t>
            </a:r>
            <a:endParaRPr lang="en-IN" sz="1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7C3BAE-3425-190D-57CE-B4375C2E8C70}"/>
              </a:ext>
            </a:extLst>
          </p:cNvPr>
          <p:cNvSpPr txBox="1"/>
          <p:nvPr/>
        </p:nvSpPr>
        <p:spPr>
          <a:xfrm>
            <a:off x="762000" y="2794000"/>
            <a:ext cx="10820400" cy="17055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US" sz="1400">
                <a:solidFill>
                  <a:srgbClr val="262B34"/>
                </a:solidFill>
                <a:latin typeface="Segoe UI" panose="020B0502040204020203" pitchFamily="34" charset="0"/>
              </a:rPr>
              <a:t>The pipeline is a fixed, sequential batch - deterministic orchestration, not an agent problem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US" sz="1400">
                <a:solidFill>
                  <a:srgbClr val="262B34"/>
                </a:solidFill>
                <a:latin typeface="Segoe UI" panose="020B0502040204020203" pitchFamily="34" charset="0"/>
              </a:rPr>
              <a:t>Foundry Agents add value with autonomy: tool-calling, dynamic decisions, reacting to input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US" sz="1400">
                <a:solidFill>
                  <a:srgbClr val="262B34"/>
                </a:solidFill>
                <a:latin typeface="Segoe UI" panose="020B0502040204020203" pitchFamily="34" charset="0"/>
              </a:rPr>
              <a:t>Forcing agents onto a fixed flow adds non-determinism, latency and cost - and breaks eval reproducibility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US" sz="1400">
                <a:solidFill>
                  <a:srgbClr val="262B34"/>
                </a:solidFill>
                <a:latin typeface="Segoe UI" panose="020B0502040204020203" pitchFamily="34" charset="0"/>
              </a:rPr>
              <a:t>Right fit: the Agent pattern for the chatbot; keep orchestrated tasks for the pipeline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US" sz="1400">
                <a:solidFill>
                  <a:srgbClr val="262B34"/>
                </a:solidFill>
                <a:latin typeface="Segoe UI" panose="020B0502040204020203" pitchFamily="34" charset="0"/>
              </a:rPr>
              <a:t>Position Multi-Agent / LangGraph for future use cases that genuinely need coordinated reasoning</a:t>
            </a:r>
          </a:p>
          <a:p>
            <a:pPr marL="342900" indent="-342900">
              <a:spcAft>
                <a:spcPts val="500"/>
              </a:spcAft>
              <a:buFont typeface="+mj-lt"/>
              <a:buChar char="•"/>
            </a:pPr>
            <a:r>
              <a:rPr lang="en-US" sz="1400">
                <a:solidFill>
                  <a:srgbClr val="262B34"/>
                </a:solidFill>
                <a:latin typeface="Segoe UI" panose="020B0502040204020203" pitchFamily="34" charset="0"/>
              </a:rPr>
              <a:t>Bottom line: choose the pattern by the problem - LLMOps governance applies no matter what</a:t>
            </a:r>
            <a:endParaRPr lang="en-IN" sz="14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300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859BA4-9008-D5A0-11DF-E94A396601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F61E4F-AD3B-CDF0-F920-97CD06EBAB7B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54240-3537-B008-FB0B-C0D3FDE9A141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Ops Console - Monitoring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3FC0D-847A-378C-5897-02AFE6D6091B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How observability and cost look in real time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08A9A0-D400-357F-130B-85B90CA77DAE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78301-8A3E-0FD4-7DD2-49B320CD19BA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29A3D-BD80-E4D7-36D4-C0E85AFF56A4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E524BD-8992-ADBF-5B79-0169703D4329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21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4CFA65-9478-E210-8FD8-ED92C19E8320}"/>
              </a:ext>
            </a:extLst>
          </p:cNvPr>
          <p:cNvSpPr/>
          <p:nvPr/>
        </p:nvSpPr>
        <p:spPr>
          <a:xfrm>
            <a:off x="508000" y="1168400"/>
            <a:ext cx="11176000" cy="520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934B95-DF31-3673-2ECD-ABEE8E3C503F}"/>
              </a:ext>
            </a:extLst>
          </p:cNvPr>
          <p:cNvSpPr/>
          <p:nvPr/>
        </p:nvSpPr>
        <p:spPr>
          <a:xfrm>
            <a:off x="508000" y="1168400"/>
            <a:ext cx="11176000" cy="355600"/>
          </a:xfrm>
          <a:prstGeom prst="rect">
            <a:avLst/>
          </a:prstGeom>
          <a:solidFill>
            <a:srgbClr val="E9EC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D6202C3-B076-859C-2C22-5322C334D623}"/>
              </a:ext>
            </a:extLst>
          </p:cNvPr>
          <p:cNvSpPr/>
          <p:nvPr/>
        </p:nvSpPr>
        <p:spPr>
          <a:xfrm>
            <a:off x="685800" y="1295400"/>
            <a:ext cx="114300" cy="114300"/>
          </a:xfrm>
          <a:prstGeom prst="ellipse">
            <a:avLst/>
          </a:prstGeom>
          <a:solidFill>
            <a:srgbClr val="ED6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B6EAA-70E0-43F2-35A7-0986D0494FB7}"/>
              </a:ext>
            </a:extLst>
          </p:cNvPr>
          <p:cNvSpPr/>
          <p:nvPr/>
        </p:nvSpPr>
        <p:spPr>
          <a:xfrm>
            <a:off x="863600" y="1295400"/>
            <a:ext cx="114300" cy="114300"/>
          </a:xfrm>
          <a:prstGeom prst="ellipse">
            <a:avLst/>
          </a:prstGeom>
          <a:solidFill>
            <a:srgbClr val="F5BF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757A2A-6F0F-C7F1-F6C0-B169D8E65850}"/>
              </a:ext>
            </a:extLst>
          </p:cNvPr>
          <p:cNvSpPr/>
          <p:nvPr/>
        </p:nvSpPr>
        <p:spPr>
          <a:xfrm>
            <a:off x="1041400" y="1295400"/>
            <a:ext cx="114300" cy="114300"/>
          </a:xfrm>
          <a:prstGeom prst="ellipse">
            <a:avLst/>
          </a:prstGeom>
          <a:solidFill>
            <a:srgbClr val="62C5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9EF6018-92FC-2F79-8168-89376B9EE9D2}"/>
              </a:ext>
            </a:extLst>
          </p:cNvPr>
          <p:cNvSpPr/>
          <p:nvPr/>
        </p:nvSpPr>
        <p:spPr>
          <a:xfrm>
            <a:off x="1346200" y="1244600"/>
            <a:ext cx="8636000" cy="215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B45D94-3306-9640-0150-D7C0D88CA66B}"/>
              </a:ext>
            </a:extLst>
          </p:cNvPr>
          <p:cNvSpPr txBox="1"/>
          <p:nvPr/>
        </p:nvSpPr>
        <p:spPr>
          <a:xfrm>
            <a:off x="1447800" y="1244600"/>
            <a:ext cx="8509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606A7A"/>
                </a:solidFill>
                <a:latin typeface="Segoe UI" panose="020B0502040204020203" pitchFamily="34" charset="0"/>
              </a:rPr>
              <a:t>apix-llmops.afni.internal / monitoring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15E977-9FF7-AFAC-72FA-C782C47281BE}"/>
              </a:ext>
            </a:extLst>
          </p:cNvPr>
          <p:cNvSpPr/>
          <p:nvPr/>
        </p:nvSpPr>
        <p:spPr>
          <a:xfrm>
            <a:off x="508000" y="1524000"/>
            <a:ext cx="1905000" cy="48514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9D208-EA37-AC05-3C81-B15357B07F57}"/>
              </a:ext>
            </a:extLst>
          </p:cNvPr>
          <p:cNvSpPr txBox="1"/>
          <p:nvPr/>
        </p:nvSpPr>
        <p:spPr>
          <a:xfrm>
            <a:off x="685800" y="1676400"/>
            <a:ext cx="1651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APIX LLMOps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B216C-00CA-5C5F-05CA-E8B18C346433}"/>
              </a:ext>
            </a:extLst>
          </p:cNvPr>
          <p:cNvSpPr txBox="1"/>
          <p:nvPr/>
        </p:nvSpPr>
        <p:spPr>
          <a:xfrm>
            <a:off x="711200" y="21590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Dashboard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CEC3AA-2301-8E24-B598-6B63854BEA0E}"/>
              </a:ext>
            </a:extLst>
          </p:cNvPr>
          <p:cNvSpPr txBox="1"/>
          <p:nvPr/>
        </p:nvSpPr>
        <p:spPr>
          <a:xfrm>
            <a:off x="711200" y="25146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Prompts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608579-A039-449A-B0DD-584880877C63}"/>
              </a:ext>
            </a:extLst>
          </p:cNvPr>
          <p:cNvSpPr txBox="1"/>
          <p:nvPr/>
        </p:nvSpPr>
        <p:spPr>
          <a:xfrm>
            <a:off x="711200" y="28702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Models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D712AB-0445-899E-1874-8DC2C06F1966}"/>
              </a:ext>
            </a:extLst>
          </p:cNvPr>
          <p:cNvSpPr txBox="1"/>
          <p:nvPr/>
        </p:nvSpPr>
        <p:spPr>
          <a:xfrm>
            <a:off x="711200" y="32258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Evaluations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6E872D-EEBA-8590-D64E-923B4802A9C0}"/>
              </a:ext>
            </a:extLst>
          </p:cNvPr>
          <p:cNvSpPr txBox="1"/>
          <p:nvPr/>
        </p:nvSpPr>
        <p:spPr>
          <a:xfrm>
            <a:off x="711200" y="35814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Guardrails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BD3E07-E10A-AC04-B947-86E68EB753CF}"/>
              </a:ext>
            </a:extLst>
          </p:cNvPr>
          <p:cNvSpPr/>
          <p:nvPr/>
        </p:nvSpPr>
        <p:spPr>
          <a:xfrm>
            <a:off x="508000" y="3886200"/>
            <a:ext cx="19050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C3D146-23F9-3ED5-E37E-AE7F792E4954}"/>
              </a:ext>
            </a:extLst>
          </p:cNvPr>
          <p:cNvSpPr/>
          <p:nvPr/>
        </p:nvSpPr>
        <p:spPr>
          <a:xfrm>
            <a:off x="508000" y="3886200"/>
            <a:ext cx="508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407E8D-3463-B5FD-F81D-F2D22F94CB64}"/>
              </a:ext>
            </a:extLst>
          </p:cNvPr>
          <p:cNvSpPr txBox="1"/>
          <p:nvPr/>
        </p:nvSpPr>
        <p:spPr>
          <a:xfrm>
            <a:off x="711200" y="39370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Monitoring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AA33EF-6D92-6039-4EEC-A94401D95C14}"/>
              </a:ext>
            </a:extLst>
          </p:cNvPr>
          <p:cNvSpPr txBox="1"/>
          <p:nvPr/>
        </p:nvSpPr>
        <p:spPr>
          <a:xfrm>
            <a:off x="711200" y="42926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Feedback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6F65BA-6BF5-C8BB-A366-3ACB00F48500}"/>
              </a:ext>
            </a:extLst>
          </p:cNvPr>
          <p:cNvSpPr/>
          <p:nvPr/>
        </p:nvSpPr>
        <p:spPr>
          <a:xfrm>
            <a:off x="2616200" y="1701800"/>
            <a:ext cx="2095500" cy="78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32998A-3CF7-E75D-B58B-F9C9E4F4B135}"/>
              </a:ext>
            </a:extLst>
          </p:cNvPr>
          <p:cNvSpPr txBox="1"/>
          <p:nvPr/>
        </p:nvSpPr>
        <p:spPr>
          <a:xfrm>
            <a:off x="2768600" y="1803400"/>
            <a:ext cx="18923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2A76BE"/>
                </a:solidFill>
                <a:latin typeface="Segoe UI" panose="020B0502040204020203" pitchFamily="34" charset="0"/>
              </a:rPr>
              <a:t>98,420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D96AFE-3F83-B8A3-AF76-0602605AFE2D}"/>
              </a:ext>
            </a:extLst>
          </p:cNvPr>
          <p:cNvSpPr txBox="1"/>
          <p:nvPr/>
        </p:nvSpPr>
        <p:spPr>
          <a:xfrm>
            <a:off x="2768600" y="2184400"/>
            <a:ext cx="18923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606A7A"/>
                </a:solidFill>
                <a:latin typeface="Segoe UI" panose="020B0502040204020203" pitchFamily="34" charset="0"/>
              </a:rPr>
              <a:t>Calls today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2082A42-2FEA-4E8F-7AB2-42996C8C98FC}"/>
              </a:ext>
            </a:extLst>
          </p:cNvPr>
          <p:cNvSpPr/>
          <p:nvPr/>
        </p:nvSpPr>
        <p:spPr>
          <a:xfrm>
            <a:off x="4864100" y="1701800"/>
            <a:ext cx="2095500" cy="78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C3D157-1C60-B54A-0B70-290D5E03D685}"/>
              </a:ext>
            </a:extLst>
          </p:cNvPr>
          <p:cNvSpPr txBox="1"/>
          <p:nvPr/>
        </p:nvSpPr>
        <p:spPr>
          <a:xfrm>
            <a:off x="5016500" y="1803400"/>
            <a:ext cx="18923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16A078"/>
                </a:solidFill>
                <a:latin typeface="Segoe UI" panose="020B0502040204020203" pitchFamily="34" charset="0"/>
              </a:rPr>
              <a:t>$91.40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9C6594-BCF8-EA15-FF30-FDEFD49B347D}"/>
              </a:ext>
            </a:extLst>
          </p:cNvPr>
          <p:cNvSpPr txBox="1"/>
          <p:nvPr/>
        </p:nvSpPr>
        <p:spPr>
          <a:xfrm>
            <a:off x="5016500" y="2184400"/>
            <a:ext cx="18923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606A7A"/>
                </a:solidFill>
                <a:latin typeface="Segoe UI" panose="020B0502040204020203" pitchFamily="34" charset="0"/>
              </a:rPr>
              <a:t>Cost today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79ED330-C1CD-C02A-41C9-A7C5850344AA}"/>
              </a:ext>
            </a:extLst>
          </p:cNvPr>
          <p:cNvSpPr/>
          <p:nvPr/>
        </p:nvSpPr>
        <p:spPr>
          <a:xfrm>
            <a:off x="7112000" y="1701800"/>
            <a:ext cx="2095500" cy="78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FB0CFB-B6C2-BCAC-D85F-E758C52805BE}"/>
              </a:ext>
            </a:extLst>
          </p:cNvPr>
          <p:cNvSpPr txBox="1"/>
          <p:nvPr/>
        </p:nvSpPr>
        <p:spPr>
          <a:xfrm>
            <a:off x="7264400" y="1803400"/>
            <a:ext cx="18923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009EA8"/>
                </a:solidFill>
                <a:latin typeface="Segoe UI" panose="020B0502040204020203" pitchFamily="34" charset="0"/>
              </a:rPr>
              <a:t>1.8 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4AC592-09CA-3B87-03A9-F63380AAF69B}"/>
              </a:ext>
            </a:extLst>
          </p:cNvPr>
          <p:cNvSpPr txBox="1"/>
          <p:nvPr/>
        </p:nvSpPr>
        <p:spPr>
          <a:xfrm>
            <a:off x="7264400" y="2184400"/>
            <a:ext cx="18923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606A7A"/>
                </a:solidFill>
                <a:latin typeface="Segoe UI" panose="020B0502040204020203" pitchFamily="34" charset="0"/>
              </a:rPr>
              <a:t>Avg latency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3FD04A6-C1FC-2D0E-40B9-A0CADC5FD41A}"/>
              </a:ext>
            </a:extLst>
          </p:cNvPr>
          <p:cNvSpPr/>
          <p:nvPr/>
        </p:nvSpPr>
        <p:spPr>
          <a:xfrm>
            <a:off x="9359900" y="1701800"/>
            <a:ext cx="1879600" cy="78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EDF363-FD59-81D5-3E18-55915E0FA68B}"/>
              </a:ext>
            </a:extLst>
          </p:cNvPr>
          <p:cNvSpPr txBox="1"/>
          <p:nvPr/>
        </p:nvSpPr>
        <p:spPr>
          <a:xfrm>
            <a:off x="9512300" y="1803400"/>
            <a:ext cx="1676400" cy="3180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900" b="1">
                <a:solidFill>
                  <a:srgbClr val="CD8712"/>
                </a:solidFill>
                <a:latin typeface="Segoe UI" panose="020B0502040204020203" pitchFamily="34" charset="0"/>
              </a:rPr>
              <a:t>212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191D59-181E-E9B5-2ECC-3F664929FE6A}"/>
              </a:ext>
            </a:extLst>
          </p:cNvPr>
          <p:cNvSpPr txBox="1"/>
          <p:nvPr/>
        </p:nvSpPr>
        <p:spPr>
          <a:xfrm>
            <a:off x="9512300" y="2184400"/>
            <a:ext cx="1676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606A7A"/>
                </a:solidFill>
                <a:latin typeface="Segoe UI" panose="020B0502040204020203" pitchFamily="34" charset="0"/>
              </a:rPr>
              <a:t>Guardrail flags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ACC8821-476A-FD24-7EF9-58CB79C93291}"/>
              </a:ext>
            </a:extLst>
          </p:cNvPr>
          <p:cNvSpPr/>
          <p:nvPr/>
        </p:nvSpPr>
        <p:spPr>
          <a:xfrm>
            <a:off x="2616200" y="2692400"/>
            <a:ext cx="457200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AD4C45-6412-29A5-5D04-9D41CE01E847}"/>
              </a:ext>
            </a:extLst>
          </p:cNvPr>
          <p:cNvSpPr txBox="1"/>
          <p:nvPr/>
        </p:nvSpPr>
        <p:spPr>
          <a:xfrm>
            <a:off x="2768600" y="2794000"/>
            <a:ext cx="3810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122648"/>
                </a:solidFill>
                <a:latin typeface="Segoe UI" panose="020B0502040204020203" pitchFamily="34" charset="0"/>
              </a:rPr>
              <a:t>Cost by program (today)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E363B47-5C0C-7295-8B35-0BD517ECCB9D}"/>
              </a:ext>
            </a:extLst>
          </p:cNvPr>
          <p:cNvSpPr/>
          <p:nvPr/>
        </p:nvSpPr>
        <p:spPr>
          <a:xfrm>
            <a:off x="3124200" y="3314700"/>
            <a:ext cx="762000" cy="9779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2CE86F-F2A8-E3C8-1BBC-8D2637C4355A}"/>
              </a:ext>
            </a:extLst>
          </p:cNvPr>
          <p:cNvSpPr txBox="1"/>
          <p:nvPr/>
        </p:nvSpPr>
        <p:spPr>
          <a:xfrm>
            <a:off x="3048000" y="4318000"/>
            <a:ext cx="914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IN" sz="900">
                <a:solidFill>
                  <a:srgbClr val="606A7A"/>
                </a:solidFill>
                <a:latin typeface="Segoe UI" panose="020B0502040204020203" pitchFamily="34" charset="0"/>
              </a:rPr>
              <a:t>Telesales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52C37B-5DB1-1DA2-F6BE-1E065F1F6D32}"/>
              </a:ext>
            </a:extLst>
          </p:cNvPr>
          <p:cNvSpPr/>
          <p:nvPr/>
        </p:nvSpPr>
        <p:spPr>
          <a:xfrm>
            <a:off x="4445000" y="3619500"/>
            <a:ext cx="762000" cy="6731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4D2FBF-435F-369C-AF8F-8F7BCD46FECC}"/>
              </a:ext>
            </a:extLst>
          </p:cNvPr>
          <p:cNvSpPr txBox="1"/>
          <p:nvPr/>
        </p:nvSpPr>
        <p:spPr>
          <a:xfrm>
            <a:off x="4368800" y="4318000"/>
            <a:ext cx="914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IN" sz="900">
                <a:solidFill>
                  <a:srgbClr val="606A7A"/>
                </a:solidFill>
                <a:latin typeface="Segoe UI" panose="020B0502040204020203" pitchFamily="34" charset="0"/>
              </a:rPr>
              <a:t>WCC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BB54FEB-26DB-8C91-922C-2B67A5F84867}"/>
              </a:ext>
            </a:extLst>
          </p:cNvPr>
          <p:cNvSpPr/>
          <p:nvPr/>
        </p:nvSpPr>
        <p:spPr>
          <a:xfrm>
            <a:off x="5765800" y="3200400"/>
            <a:ext cx="762000" cy="10922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C0478A-788E-771E-0CF4-3BE704C6D02D}"/>
              </a:ext>
            </a:extLst>
          </p:cNvPr>
          <p:cNvSpPr txBox="1"/>
          <p:nvPr/>
        </p:nvSpPr>
        <p:spPr>
          <a:xfrm>
            <a:off x="5689600" y="4318000"/>
            <a:ext cx="914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ctr"/>
            <a:r>
              <a:rPr lang="en-IN" sz="900">
                <a:solidFill>
                  <a:srgbClr val="606A7A"/>
                </a:solidFill>
                <a:latin typeface="Segoe UI" panose="020B0502040204020203" pitchFamily="34" charset="0"/>
              </a:rPr>
              <a:t>PSO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6409BBE-F160-EA6B-03B1-CBAE074DCB83}"/>
              </a:ext>
            </a:extLst>
          </p:cNvPr>
          <p:cNvSpPr/>
          <p:nvPr/>
        </p:nvSpPr>
        <p:spPr>
          <a:xfrm>
            <a:off x="7416800" y="2692400"/>
            <a:ext cx="382270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F0BD44-54FC-68C2-4785-864AA96272E3}"/>
              </a:ext>
            </a:extLst>
          </p:cNvPr>
          <p:cNvSpPr txBox="1"/>
          <p:nvPr/>
        </p:nvSpPr>
        <p:spPr>
          <a:xfrm>
            <a:off x="7569200" y="2794000"/>
            <a:ext cx="3556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122648"/>
                </a:solidFill>
                <a:latin typeface="Segoe UI" panose="020B0502040204020203" pitchFamily="34" charset="0"/>
              </a:rPr>
              <a:t>Recent eval runs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EFB596-59C6-CEA2-4CEC-37358F58810F}"/>
              </a:ext>
            </a:extLst>
          </p:cNvPr>
          <p:cNvSpPr txBox="1"/>
          <p:nvPr/>
        </p:nvSpPr>
        <p:spPr>
          <a:xfrm>
            <a:off x="7594600" y="3098800"/>
            <a:ext cx="2286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262B34"/>
                </a:solidFill>
                <a:latin typeface="Segoe UI" panose="020B0502040204020203" pitchFamily="34" charset="0"/>
              </a:rPr>
              <a:t>analysis v4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D8FE782-371C-0E99-821A-619B5B6C8EDA}"/>
              </a:ext>
            </a:extLst>
          </p:cNvPr>
          <p:cNvSpPr/>
          <p:nvPr/>
        </p:nvSpPr>
        <p:spPr>
          <a:xfrm>
            <a:off x="9956800" y="3098800"/>
            <a:ext cx="1143000" cy="2032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Segoe UI" panose="020B0502040204020203" pitchFamily="34" charset="0"/>
              </a:rPr>
              <a:t>PASS 0.96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9E02DC-24E6-997D-1E11-B353D88DAD63}"/>
              </a:ext>
            </a:extLst>
          </p:cNvPr>
          <p:cNvSpPr txBox="1"/>
          <p:nvPr/>
        </p:nvSpPr>
        <p:spPr>
          <a:xfrm>
            <a:off x="7594600" y="3454400"/>
            <a:ext cx="2286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262B34"/>
                </a:solidFill>
                <a:latin typeface="Segoe UI" panose="020B0502040204020203" pitchFamily="34" charset="0"/>
              </a:rPr>
              <a:t>denoise v2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2E46F19-3AC3-3F3F-636A-5846BDE6861B}"/>
              </a:ext>
            </a:extLst>
          </p:cNvPr>
          <p:cNvSpPr/>
          <p:nvPr/>
        </p:nvSpPr>
        <p:spPr>
          <a:xfrm>
            <a:off x="9956800" y="3454400"/>
            <a:ext cx="1143000" cy="2032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Segoe UI" panose="020B0502040204020203" pitchFamily="34" charset="0"/>
              </a:rPr>
              <a:t>PASS 0.98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9D72CD-62DC-E614-6D88-513ADB128B5A}"/>
              </a:ext>
            </a:extLst>
          </p:cNvPr>
          <p:cNvSpPr txBox="1"/>
          <p:nvPr/>
        </p:nvSpPr>
        <p:spPr>
          <a:xfrm>
            <a:off x="7594600" y="3810000"/>
            <a:ext cx="2286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262B34"/>
                </a:solidFill>
                <a:latin typeface="Segoe UI" panose="020B0502040204020203" pitchFamily="34" charset="0"/>
              </a:rPr>
              <a:t>summary v3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9CF7047-D62E-A980-3F69-225BC4DE4DF9}"/>
              </a:ext>
            </a:extLst>
          </p:cNvPr>
          <p:cNvSpPr/>
          <p:nvPr/>
        </p:nvSpPr>
        <p:spPr>
          <a:xfrm>
            <a:off x="9956800" y="3810000"/>
            <a:ext cx="1143000" cy="203200"/>
          </a:xfrm>
          <a:prstGeom prst="roundRect">
            <a:avLst/>
          </a:prstGeom>
          <a:solidFill>
            <a:srgbClr val="C8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Segoe UI" panose="020B0502040204020203" pitchFamily="34" charset="0"/>
              </a:rPr>
              <a:t>FAIL 0.88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3D179-2027-2D2A-A9E3-6C6A2FAABE05}"/>
              </a:ext>
            </a:extLst>
          </p:cNvPr>
          <p:cNvSpPr txBox="1"/>
          <p:nvPr/>
        </p:nvSpPr>
        <p:spPr>
          <a:xfrm>
            <a:off x="7594600" y="4165600"/>
            <a:ext cx="2286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262B34"/>
                </a:solidFill>
                <a:latin typeface="Segoe UI" panose="020B0502040204020203" pitchFamily="34" charset="0"/>
              </a:rPr>
              <a:t>analysis v3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82F4F96-57C5-CA2E-3576-F49397B1D989}"/>
              </a:ext>
            </a:extLst>
          </p:cNvPr>
          <p:cNvSpPr/>
          <p:nvPr/>
        </p:nvSpPr>
        <p:spPr>
          <a:xfrm>
            <a:off x="9956800" y="4165600"/>
            <a:ext cx="1143000" cy="2032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Segoe UI" panose="020B0502040204020203" pitchFamily="34" charset="0"/>
              </a:rPr>
              <a:t>PASS 0.95</a:t>
            </a:r>
          </a:p>
        </p:txBody>
      </p:sp>
    </p:spTree>
    <p:extLst>
      <p:ext uri="{BB962C8B-B14F-4D97-AF65-F5344CB8AC3E}">
        <p14:creationId xmlns:p14="http://schemas.microsoft.com/office/powerpoint/2010/main" val="154201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67C86-DFBE-CD79-A154-E9052C4F76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629198-F972-1433-65EC-CC5224BD38D6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C6A2E-A7EC-850F-E590-8B061C43833D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Ops Console - Prompts &amp;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02B7B-26C4-1D3C-3945-D57177E43505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Version a prompt, evaluate it, gate promotion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54AB7-F6A7-43E2-EC29-0E27F04416C5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2A76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0A3F7-26AA-4352-DCD6-5D19E0E3F510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99363-4752-A6BA-E68A-5A444ED156A1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499DE-0582-E490-A6A6-10FA29E4C92B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22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AEDDF6-2E41-3358-A80F-A5DA08103350}"/>
              </a:ext>
            </a:extLst>
          </p:cNvPr>
          <p:cNvSpPr/>
          <p:nvPr/>
        </p:nvSpPr>
        <p:spPr>
          <a:xfrm>
            <a:off x="508000" y="1168400"/>
            <a:ext cx="11176000" cy="520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4D59AB-0336-AC4B-0747-719C53AF7206}"/>
              </a:ext>
            </a:extLst>
          </p:cNvPr>
          <p:cNvSpPr/>
          <p:nvPr/>
        </p:nvSpPr>
        <p:spPr>
          <a:xfrm>
            <a:off x="508000" y="1168400"/>
            <a:ext cx="11176000" cy="355600"/>
          </a:xfrm>
          <a:prstGeom prst="rect">
            <a:avLst/>
          </a:prstGeom>
          <a:solidFill>
            <a:srgbClr val="E9EC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94E3A4-0972-E02D-8A75-5C37B37A6443}"/>
              </a:ext>
            </a:extLst>
          </p:cNvPr>
          <p:cNvSpPr/>
          <p:nvPr/>
        </p:nvSpPr>
        <p:spPr>
          <a:xfrm>
            <a:off x="685800" y="1295400"/>
            <a:ext cx="114300" cy="114300"/>
          </a:xfrm>
          <a:prstGeom prst="ellipse">
            <a:avLst/>
          </a:prstGeom>
          <a:solidFill>
            <a:srgbClr val="ED6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DA54BA-3529-D8FB-1BD6-D72FD0A8D3CC}"/>
              </a:ext>
            </a:extLst>
          </p:cNvPr>
          <p:cNvSpPr/>
          <p:nvPr/>
        </p:nvSpPr>
        <p:spPr>
          <a:xfrm>
            <a:off x="863600" y="1295400"/>
            <a:ext cx="114300" cy="114300"/>
          </a:xfrm>
          <a:prstGeom prst="ellipse">
            <a:avLst/>
          </a:prstGeom>
          <a:solidFill>
            <a:srgbClr val="F5BF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D26FD14-9987-7019-250C-BE4E726E7899}"/>
              </a:ext>
            </a:extLst>
          </p:cNvPr>
          <p:cNvSpPr/>
          <p:nvPr/>
        </p:nvSpPr>
        <p:spPr>
          <a:xfrm>
            <a:off x="1041400" y="1295400"/>
            <a:ext cx="114300" cy="114300"/>
          </a:xfrm>
          <a:prstGeom prst="ellipse">
            <a:avLst/>
          </a:prstGeom>
          <a:solidFill>
            <a:srgbClr val="62C5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BF295F-B84F-BB3C-4F67-7FA0AF1A17F1}"/>
              </a:ext>
            </a:extLst>
          </p:cNvPr>
          <p:cNvSpPr/>
          <p:nvPr/>
        </p:nvSpPr>
        <p:spPr>
          <a:xfrm>
            <a:off x="1346200" y="1244600"/>
            <a:ext cx="8636000" cy="215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294752-E369-E366-06BF-006B70DC5B3A}"/>
              </a:ext>
            </a:extLst>
          </p:cNvPr>
          <p:cNvSpPr txBox="1"/>
          <p:nvPr/>
        </p:nvSpPr>
        <p:spPr>
          <a:xfrm>
            <a:off x="1447800" y="1244600"/>
            <a:ext cx="8509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606A7A"/>
                </a:solidFill>
                <a:latin typeface="Segoe UI" panose="020B0502040204020203" pitchFamily="34" charset="0"/>
              </a:rPr>
              <a:t>apix-llmops.afni.internal / prompts / call_analysis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7E7ECA-43C1-1438-FAF6-F8BD6466BF8C}"/>
              </a:ext>
            </a:extLst>
          </p:cNvPr>
          <p:cNvSpPr/>
          <p:nvPr/>
        </p:nvSpPr>
        <p:spPr>
          <a:xfrm>
            <a:off x="508000" y="1524000"/>
            <a:ext cx="1905000" cy="48514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E83016-D1A6-1A4B-9CC2-6BF97B9B908D}"/>
              </a:ext>
            </a:extLst>
          </p:cNvPr>
          <p:cNvSpPr txBox="1"/>
          <p:nvPr/>
        </p:nvSpPr>
        <p:spPr>
          <a:xfrm>
            <a:off x="685800" y="1676400"/>
            <a:ext cx="1651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APIX LLMOps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194A13-633A-C879-B2F9-F00C1A97159F}"/>
              </a:ext>
            </a:extLst>
          </p:cNvPr>
          <p:cNvSpPr txBox="1"/>
          <p:nvPr/>
        </p:nvSpPr>
        <p:spPr>
          <a:xfrm>
            <a:off x="711200" y="21590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06DBCB-D8F1-2CE1-6F7E-408D619215D2}"/>
              </a:ext>
            </a:extLst>
          </p:cNvPr>
          <p:cNvSpPr/>
          <p:nvPr/>
        </p:nvSpPr>
        <p:spPr>
          <a:xfrm>
            <a:off x="508000" y="2463800"/>
            <a:ext cx="19050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2EECCA-266A-FD59-5766-062C32374B49}"/>
              </a:ext>
            </a:extLst>
          </p:cNvPr>
          <p:cNvSpPr/>
          <p:nvPr/>
        </p:nvSpPr>
        <p:spPr>
          <a:xfrm>
            <a:off x="508000" y="2463800"/>
            <a:ext cx="508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267A3C-7E49-2316-7C63-6567C4294A70}"/>
              </a:ext>
            </a:extLst>
          </p:cNvPr>
          <p:cNvSpPr txBox="1"/>
          <p:nvPr/>
        </p:nvSpPr>
        <p:spPr>
          <a:xfrm>
            <a:off x="711200" y="25146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Prompts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FBE391-CE0C-F225-A034-31F4754DB325}"/>
              </a:ext>
            </a:extLst>
          </p:cNvPr>
          <p:cNvSpPr txBox="1"/>
          <p:nvPr/>
        </p:nvSpPr>
        <p:spPr>
          <a:xfrm>
            <a:off x="711200" y="28702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Models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1D59F3-65D9-B37D-333C-B93D26574437}"/>
              </a:ext>
            </a:extLst>
          </p:cNvPr>
          <p:cNvSpPr txBox="1"/>
          <p:nvPr/>
        </p:nvSpPr>
        <p:spPr>
          <a:xfrm>
            <a:off x="711200" y="32258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Evaluations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FFD621-83E0-B87B-BB18-F4DF1CF04C23}"/>
              </a:ext>
            </a:extLst>
          </p:cNvPr>
          <p:cNvSpPr txBox="1"/>
          <p:nvPr/>
        </p:nvSpPr>
        <p:spPr>
          <a:xfrm>
            <a:off x="711200" y="35814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Guardrails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EABB72-BEF0-3B6B-5C39-23935EA8A37E}"/>
              </a:ext>
            </a:extLst>
          </p:cNvPr>
          <p:cNvSpPr txBox="1"/>
          <p:nvPr/>
        </p:nvSpPr>
        <p:spPr>
          <a:xfrm>
            <a:off x="711200" y="39370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Monitoring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A1B523-2943-DB82-8412-5C49D4B14E4A}"/>
              </a:ext>
            </a:extLst>
          </p:cNvPr>
          <p:cNvSpPr txBox="1"/>
          <p:nvPr/>
        </p:nvSpPr>
        <p:spPr>
          <a:xfrm>
            <a:off x="711200" y="42926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Feedback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C7DE8F-5A5B-DC2B-3372-442D4CB70D8A}"/>
              </a:ext>
            </a:extLst>
          </p:cNvPr>
          <p:cNvSpPr/>
          <p:nvPr/>
        </p:nvSpPr>
        <p:spPr>
          <a:xfrm>
            <a:off x="2616200" y="1701800"/>
            <a:ext cx="2794000" cy="449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70F6CA-DDFF-1507-E400-2FF10107CF4C}"/>
              </a:ext>
            </a:extLst>
          </p:cNvPr>
          <p:cNvSpPr txBox="1"/>
          <p:nvPr/>
        </p:nvSpPr>
        <p:spPr>
          <a:xfrm>
            <a:off x="2768600" y="1803400"/>
            <a:ext cx="2540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122648"/>
                </a:solidFill>
                <a:latin typeface="Segoe UI" panose="020B0502040204020203" pitchFamily="34" charset="0"/>
              </a:rPr>
              <a:t>call_analysis - versions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68BB81-77E8-443A-CA69-F815ED066AEF}"/>
              </a:ext>
            </a:extLst>
          </p:cNvPr>
          <p:cNvSpPr txBox="1"/>
          <p:nvPr/>
        </p:nvSpPr>
        <p:spPr>
          <a:xfrm>
            <a:off x="2794000" y="21082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262B34"/>
                </a:solidFill>
                <a:latin typeface="Segoe UI" panose="020B0502040204020203" pitchFamily="34" charset="0"/>
              </a:rPr>
              <a:t>v4  (candidate)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1B3BE69-9F98-8EE0-AB7A-6DCF2A0224EE}"/>
              </a:ext>
            </a:extLst>
          </p:cNvPr>
          <p:cNvSpPr/>
          <p:nvPr/>
        </p:nvSpPr>
        <p:spPr>
          <a:xfrm>
            <a:off x="4521200" y="2120900"/>
            <a:ext cx="762000" cy="190500"/>
          </a:xfrm>
          <a:prstGeom prst="round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b="1">
                <a:solidFill>
                  <a:srgbClr val="FFFFFF"/>
                </a:solidFill>
                <a:latin typeface="Segoe UI" panose="020B0502040204020203" pitchFamily="34" charset="0"/>
              </a:rPr>
              <a:t>in review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4C02F2-F76E-BECD-F870-D74DFA54B988}"/>
              </a:ext>
            </a:extLst>
          </p:cNvPr>
          <p:cNvSpPr txBox="1"/>
          <p:nvPr/>
        </p:nvSpPr>
        <p:spPr>
          <a:xfrm>
            <a:off x="2794000" y="25400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262B34"/>
                </a:solidFill>
                <a:latin typeface="Segoe UI" panose="020B0502040204020203" pitchFamily="34" charset="0"/>
              </a:rPr>
              <a:t>v3  (active - PROD)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79F5231-557E-A1E8-CEDA-4EC743F49031}"/>
              </a:ext>
            </a:extLst>
          </p:cNvPr>
          <p:cNvSpPr/>
          <p:nvPr/>
        </p:nvSpPr>
        <p:spPr>
          <a:xfrm>
            <a:off x="4521200" y="2552700"/>
            <a:ext cx="762000" cy="1905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b="1">
                <a:solidFill>
                  <a:srgbClr val="FFFFFF"/>
                </a:solidFill>
                <a:latin typeface="Segoe UI" panose="020B0502040204020203" pitchFamily="34" charset="0"/>
              </a:rPr>
              <a:t>live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1CDC77-622C-3A6D-890A-56B6895FE535}"/>
              </a:ext>
            </a:extLst>
          </p:cNvPr>
          <p:cNvSpPr txBox="1"/>
          <p:nvPr/>
        </p:nvSpPr>
        <p:spPr>
          <a:xfrm>
            <a:off x="2794000" y="29718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262B34"/>
                </a:solidFill>
                <a:latin typeface="Segoe UI" panose="020B0502040204020203" pitchFamily="34" charset="0"/>
              </a:rPr>
              <a:t>v2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031B14F-EA99-5FFF-731D-FC2CC969B2FF}"/>
              </a:ext>
            </a:extLst>
          </p:cNvPr>
          <p:cNvSpPr/>
          <p:nvPr/>
        </p:nvSpPr>
        <p:spPr>
          <a:xfrm>
            <a:off x="4521200" y="2984500"/>
            <a:ext cx="762000" cy="190500"/>
          </a:xfrm>
          <a:prstGeom prst="roundRect">
            <a:avLst/>
          </a:prstGeom>
          <a:solidFill>
            <a:srgbClr val="606A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b="1">
                <a:solidFill>
                  <a:srgbClr val="FFFFFF"/>
                </a:solidFill>
                <a:latin typeface="Segoe UI" panose="020B0502040204020203" pitchFamily="34" charset="0"/>
              </a:rPr>
              <a:t>archived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7CF5CB-DF10-0032-E89A-9A397441FA25}"/>
              </a:ext>
            </a:extLst>
          </p:cNvPr>
          <p:cNvSpPr txBox="1"/>
          <p:nvPr/>
        </p:nvSpPr>
        <p:spPr>
          <a:xfrm>
            <a:off x="2794000" y="34036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262B34"/>
                </a:solidFill>
                <a:latin typeface="Segoe UI" panose="020B0502040204020203" pitchFamily="34" charset="0"/>
              </a:rPr>
              <a:t>v1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1078633-23AA-F157-CA55-1B9F20612813}"/>
              </a:ext>
            </a:extLst>
          </p:cNvPr>
          <p:cNvSpPr/>
          <p:nvPr/>
        </p:nvSpPr>
        <p:spPr>
          <a:xfrm>
            <a:off x="4521200" y="3416300"/>
            <a:ext cx="762000" cy="190500"/>
          </a:xfrm>
          <a:prstGeom prst="roundRect">
            <a:avLst/>
          </a:prstGeom>
          <a:solidFill>
            <a:srgbClr val="606A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b="1">
                <a:solidFill>
                  <a:srgbClr val="FFFFFF"/>
                </a:solidFill>
                <a:latin typeface="Segoe UI" panose="020B0502040204020203" pitchFamily="34" charset="0"/>
              </a:rPr>
              <a:t>archived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E9220FC-A23A-B9D7-7D0C-7E7C188C8CF6}"/>
              </a:ext>
            </a:extLst>
          </p:cNvPr>
          <p:cNvSpPr/>
          <p:nvPr/>
        </p:nvSpPr>
        <p:spPr>
          <a:xfrm>
            <a:off x="5613400" y="1701800"/>
            <a:ext cx="5626100" cy="449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4E2982-DC55-BB29-4862-3A1E93AF732A}"/>
              </a:ext>
            </a:extLst>
          </p:cNvPr>
          <p:cNvSpPr txBox="1"/>
          <p:nvPr/>
        </p:nvSpPr>
        <p:spPr>
          <a:xfrm>
            <a:off x="5791200" y="1803400"/>
            <a:ext cx="5080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122648"/>
                </a:solidFill>
                <a:latin typeface="Segoe UI" panose="020B0502040204020203" pitchFamily="34" charset="0"/>
              </a:rPr>
              <a:t>Evaluation - v4 vs golden dataset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A9F514B-77E6-73CC-2BE7-7D965CBF6566}"/>
              </a:ext>
            </a:extLst>
          </p:cNvPr>
          <p:cNvSpPr/>
          <p:nvPr/>
        </p:nvSpPr>
        <p:spPr>
          <a:xfrm>
            <a:off x="5791200" y="2108200"/>
            <a:ext cx="1524000" cy="7112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0.96</a:t>
            </a:r>
          </a:p>
          <a:p>
            <a:pPr algn="ctr"/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pass rate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796BBC-3EE8-AF4E-53AA-F7FBBD8D9B8A}"/>
              </a:ext>
            </a:extLst>
          </p:cNvPr>
          <p:cNvSpPr txBox="1"/>
          <p:nvPr/>
        </p:nvSpPr>
        <p:spPr>
          <a:xfrm>
            <a:off x="7442200" y="2209800"/>
            <a:ext cx="3683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16A078"/>
                </a:solidFill>
                <a:latin typeface="Segoe UI" panose="020B0502040204020203" pitchFamily="34" charset="0"/>
              </a:rPr>
              <a:t>PROD threshold 0.95 - PASS. Ready to promote.</a:t>
            </a:r>
            <a:endParaRPr lang="en-IN" sz="1100" b="1">
              <a:solidFill>
                <a:srgbClr val="16A078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934454-2D3D-6B62-3F01-09C7C018ED86}"/>
              </a:ext>
            </a:extLst>
          </p:cNvPr>
          <p:cNvSpPr txBox="1"/>
          <p:nvPr/>
        </p:nvSpPr>
        <p:spPr>
          <a:xfrm>
            <a:off x="5816600" y="2946400"/>
            <a:ext cx="381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262B34"/>
                </a:solidFill>
                <a:latin typeface="Segoe UI" panose="020B0502040204020203" pitchFamily="34" charset="0"/>
              </a:rPr>
              <a:t>escalations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79EB8D1-A499-9CFD-3B12-FBE9964C80C6}"/>
              </a:ext>
            </a:extLst>
          </p:cNvPr>
          <p:cNvSpPr/>
          <p:nvPr/>
        </p:nvSpPr>
        <p:spPr>
          <a:xfrm>
            <a:off x="9931400" y="2946400"/>
            <a:ext cx="1092200" cy="1905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4E94CB-798E-139F-B2E2-F01316617363}"/>
              </a:ext>
            </a:extLst>
          </p:cNvPr>
          <p:cNvSpPr txBox="1"/>
          <p:nvPr/>
        </p:nvSpPr>
        <p:spPr>
          <a:xfrm>
            <a:off x="5816600" y="3251200"/>
            <a:ext cx="381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262B34"/>
                </a:solidFill>
                <a:latin typeface="Segoe UI" panose="020B0502040204020203" pitchFamily="34" charset="0"/>
              </a:rPr>
              <a:t>save_attempts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FD28797-F1E9-3D87-F41A-1C7F0B0C021E}"/>
              </a:ext>
            </a:extLst>
          </p:cNvPr>
          <p:cNvSpPr/>
          <p:nvPr/>
        </p:nvSpPr>
        <p:spPr>
          <a:xfrm>
            <a:off x="9931400" y="3251200"/>
            <a:ext cx="1092200" cy="1905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6FD081-6038-858E-D9BB-234DB39C8421}"/>
              </a:ext>
            </a:extLst>
          </p:cNvPr>
          <p:cNvSpPr txBox="1"/>
          <p:nvPr/>
        </p:nvSpPr>
        <p:spPr>
          <a:xfrm>
            <a:off x="5816600" y="3556000"/>
            <a:ext cx="381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262B34"/>
                </a:solidFill>
                <a:latin typeface="Segoe UI" panose="020B0502040204020203" pitchFamily="34" charset="0"/>
              </a:rPr>
              <a:t>bs_empathy  (+/-0.1)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1F88693-072D-1851-7E79-BCA6664C331E}"/>
              </a:ext>
            </a:extLst>
          </p:cNvPr>
          <p:cNvSpPr/>
          <p:nvPr/>
        </p:nvSpPr>
        <p:spPr>
          <a:xfrm>
            <a:off x="9931400" y="3556000"/>
            <a:ext cx="1092200" cy="1905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752406-D8C0-84DB-26FB-F65E0BA06E24}"/>
              </a:ext>
            </a:extLst>
          </p:cNvPr>
          <p:cNvSpPr txBox="1"/>
          <p:nvPr/>
        </p:nvSpPr>
        <p:spPr>
          <a:xfrm>
            <a:off x="5816600" y="3860800"/>
            <a:ext cx="381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262B34"/>
                </a:solidFill>
                <a:latin typeface="Segoe UI" panose="020B0502040204020203" pitchFamily="34" charset="0"/>
              </a:rPr>
              <a:t>overall_behavior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4BF06F8-799B-C30E-B657-DEE9670417BD}"/>
              </a:ext>
            </a:extLst>
          </p:cNvPr>
          <p:cNvSpPr/>
          <p:nvPr/>
        </p:nvSpPr>
        <p:spPr>
          <a:xfrm>
            <a:off x="9931400" y="3860800"/>
            <a:ext cx="1092200" cy="190500"/>
          </a:xfrm>
          <a:prstGeom prst="roundRect">
            <a:avLst/>
          </a:prstGeom>
          <a:solidFill>
            <a:srgbClr val="C846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Segoe UI" panose="020B0502040204020203" pitchFamily="34" charset="0"/>
              </a:rPr>
              <a:t>FAIL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DB2360-29FF-AF25-4265-E645D7C4E592}"/>
              </a:ext>
            </a:extLst>
          </p:cNvPr>
          <p:cNvSpPr txBox="1"/>
          <p:nvPr/>
        </p:nvSpPr>
        <p:spPr>
          <a:xfrm>
            <a:off x="5816600" y="4165600"/>
            <a:ext cx="381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262B34"/>
                </a:solidFill>
                <a:latin typeface="Segoe UI" panose="020B0502040204020203" pitchFamily="34" charset="0"/>
              </a:rPr>
              <a:t>customer_experience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8A01418-0CBA-D88E-4E54-63C631931169}"/>
              </a:ext>
            </a:extLst>
          </p:cNvPr>
          <p:cNvSpPr/>
          <p:nvPr/>
        </p:nvSpPr>
        <p:spPr>
          <a:xfrm>
            <a:off x="9931400" y="4165600"/>
            <a:ext cx="1092200" cy="1905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Segoe UI" panose="020B0502040204020203" pitchFamily="34" charset="0"/>
              </a:rPr>
              <a:t>PASS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EC3FD86-9260-5771-1743-599B05264509}"/>
              </a:ext>
            </a:extLst>
          </p:cNvPr>
          <p:cNvSpPr/>
          <p:nvPr/>
        </p:nvSpPr>
        <p:spPr>
          <a:xfrm>
            <a:off x="5791200" y="4546600"/>
            <a:ext cx="1905000" cy="330200"/>
          </a:xfrm>
          <a:prstGeom prst="round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Promote to PROD</a:t>
            </a:r>
          </a:p>
        </p:txBody>
      </p:sp>
    </p:spTree>
    <p:extLst>
      <p:ext uri="{BB962C8B-B14F-4D97-AF65-F5344CB8AC3E}">
        <p14:creationId xmlns:p14="http://schemas.microsoft.com/office/powerpoint/2010/main" val="346138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5285D4-69C4-3769-164F-3936B1F8FC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55E7F1-6DAD-C749-BE0E-ADA17FE242E7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AD08E-E460-137B-A896-E0BB9B0A8D19}"/>
              </a:ext>
            </a:extLst>
          </p:cNvPr>
          <p:cNvSpPr txBox="1"/>
          <p:nvPr/>
        </p:nvSpPr>
        <p:spPr>
          <a:xfrm>
            <a:off x="406400" y="114300"/>
            <a:ext cx="11176000" cy="36420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APIX - Coaching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D627B-FB50-E570-C914-DC8A33FFA5B4}"/>
              </a:ext>
            </a:extLst>
          </p:cNvPr>
          <p:cNvSpPr txBox="1"/>
          <p:nvPr/>
        </p:nvSpPr>
        <p:spPr>
          <a:xfrm>
            <a:off x="431800" y="482600"/>
            <a:ext cx="111760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>
                <a:solidFill>
                  <a:srgbClr val="A0CDD7"/>
                </a:solidFill>
                <a:latin typeface="Segoe UI" panose="020B0502040204020203" pitchFamily="34" charset="0"/>
              </a:rPr>
              <a:t>What a coach sees for an agent</a:t>
            </a:r>
            <a:endParaRPr lang="en-IN" sz="1100">
              <a:solidFill>
                <a:srgbClr val="A0CDD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B9C88-33CE-9BC8-2EB4-14B42E6D092F}"/>
              </a:ext>
            </a:extLst>
          </p:cNvPr>
          <p:cNvSpPr/>
          <p:nvPr/>
        </p:nvSpPr>
        <p:spPr>
          <a:xfrm>
            <a:off x="0" y="812800"/>
            <a:ext cx="12192000" cy="381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327D9A-E0C1-39B5-CFA0-BA35A96E9957}"/>
              </a:ext>
            </a:extLst>
          </p:cNvPr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ECEF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09051-A2B0-8B61-8853-A29E9205ED9E}"/>
              </a:ext>
            </a:extLst>
          </p:cNvPr>
          <p:cNvSpPr txBox="1"/>
          <p:nvPr/>
        </p:nvSpPr>
        <p:spPr>
          <a:xfrm>
            <a:off x="406400" y="6616700"/>
            <a:ext cx="6350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AFNI   .   LLMOps Approach for APIX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53BA61-FE82-76DD-CB27-2B3F8BD938F1}"/>
              </a:ext>
            </a:extLst>
          </p:cNvPr>
          <p:cNvSpPr txBox="1"/>
          <p:nvPr/>
        </p:nvSpPr>
        <p:spPr>
          <a:xfrm>
            <a:off x="11303000" y="6616700"/>
            <a:ext cx="508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pPr algn="r"/>
            <a:r>
              <a:rPr lang="en-IN" sz="900" b="1">
                <a:solidFill>
                  <a:srgbClr val="606A7A"/>
                </a:solidFill>
                <a:latin typeface="Segoe UI" panose="020B0502040204020203" pitchFamily="34" charset="0"/>
              </a:rPr>
              <a:t>23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FD0158-665E-5D13-1FDA-2C0A01FD5E51}"/>
              </a:ext>
            </a:extLst>
          </p:cNvPr>
          <p:cNvSpPr/>
          <p:nvPr/>
        </p:nvSpPr>
        <p:spPr>
          <a:xfrm>
            <a:off x="508000" y="1168400"/>
            <a:ext cx="11176000" cy="520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>
            <a:outerShdw blurRad="88900" dist="25400" dir="5400000" rotWithShape="0">
              <a:srgbClr val="788291">
                <a:alpha val="26000"/>
              </a:s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39EA90-DA37-1B5E-7FCF-1E4DB406DCCA}"/>
              </a:ext>
            </a:extLst>
          </p:cNvPr>
          <p:cNvSpPr/>
          <p:nvPr/>
        </p:nvSpPr>
        <p:spPr>
          <a:xfrm>
            <a:off x="508000" y="1168400"/>
            <a:ext cx="11176000" cy="355600"/>
          </a:xfrm>
          <a:prstGeom prst="rect">
            <a:avLst/>
          </a:prstGeom>
          <a:solidFill>
            <a:srgbClr val="E9EC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D5C879-5256-79A8-4A14-94B8AA43667F}"/>
              </a:ext>
            </a:extLst>
          </p:cNvPr>
          <p:cNvSpPr/>
          <p:nvPr/>
        </p:nvSpPr>
        <p:spPr>
          <a:xfrm>
            <a:off x="685800" y="1295400"/>
            <a:ext cx="114300" cy="114300"/>
          </a:xfrm>
          <a:prstGeom prst="ellipse">
            <a:avLst/>
          </a:prstGeom>
          <a:solidFill>
            <a:srgbClr val="ED6A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710478-8E10-D553-408E-DD62CBED1174}"/>
              </a:ext>
            </a:extLst>
          </p:cNvPr>
          <p:cNvSpPr/>
          <p:nvPr/>
        </p:nvSpPr>
        <p:spPr>
          <a:xfrm>
            <a:off x="863600" y="1295400"/>
            <a:ext cx="114300" cy="114300"/>
          </a:xfrm>
          <a:prstGeom prst="ellipse">
            <a:avLst/>
          </a:prstGeom>
          <a:solidFill>
            <a:srgbClr val="F5BF4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E2218D-4519-6212-F6F6-B8F525A261C6}"/>
              </a:ext>
            </a:extLst>
          </p:cNvPr>
          <p:cNvSpPr/>
          <p:nvPr/>
        </p:nvSpPr>
        <p:spPr>
          <a:xfrm>
            <a:off x="1041400" y="1295400"/>
            <a:ext cx="114300" cy="114300"/>
          </a:xfrm>
          <a:prstGeom prst="ellipse">
            <a:avLst/>
          </a:prstGeom>
          <a:solidFill>
            <a:srgbClr val="62C57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AEDC90-5033-527C-DE15-B9BEA6FF023F}"/>
              </a:ext>
            </a:extLst>
          </p:cNvPr>
          <p:cNvSpPr/>
          <p:nvPr/>
        </p:nvSpPr>
        <p:spPr>
          <a:xfrm>
            <a:off x="1346200" y="1244600"/>
            <a:ext cx="8636000" cy="215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9C4B6E-3820-DDB0-32C1-8EFDD02AB344}"/>
              </a:ext>
            </a:extLst>
          </p:cNvPr>
          <p:cNvSpPr txBox="1"/>
          <p:nvPr/>
        </p:nvSpPr>
        <p:spPr>
          <a:xfrm>
            <a:off x="1447800" y="1244600"/>
            <a:ext cx="8509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606A7A"/>
                </a:solidFill>
                <a:latin typeface="Segoe UI" panose="020B0502040204020203" pitchFamily="34" charset="0"/>
              </a:rPr>
              <a:t>apix.afni.internal / agent / 9062362 / week 2026-08-16</a:t>
            </a:r>
            <a:endParaRPr lang="en-IN" sz="9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719A94-7025-25D1-E652-FFBB1DBD09EC}"/>
              </a:ext>
            </a:extLst>
          </p:cNvPr>
          <p:cNvSpPr/>
          <p:nvPr/>
        </p:nvSpPr>
        <p:spPr>
          <a:xfrm>
            <a:off x="508000" y="1524000"/>
            <a:ext cx="1905000" cy="48514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2CC2C1-7F42-C80B-AA06-395DABD88047}"/>
              </a:ext>
            </a:extLst>
          </p:cNvPr>
          <p:cNvSpPr txBox="1"/>
          <p:nvPr/>
        </p:nvSpPr>
        <p:spPr>
          <a:xfrm>
            <a:off x="685800" y="1676400"/>
            <a:ext cx="1651000" cy="210314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APIX LLMOps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2E8BCF-D72A-A82E-4E06-F0F5B0E05E78}"/>
              </a:ext>
            </a:extLst>
          </p:cNvPr>
          <p:cNvSpPr/>
          <p:nvPr/>
        </p:nvSpPr>
        <p:spPr>
          <a:xfrm>
            <a:off x="508000" y="2108200"/>
            <a:ext cx="1905000" cy="3302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9CAFC4-F96F-D6A0-5D62-4B241E9144E7}"/>
              </a:ext>
            </a:extLst>
          </p:cNvPr>
          <p:cNvSpPr/>
          <p:nvPr/>
        </p:nvSpPr>
        <p:spPr>
          <a:xfrm>
            <a:off x="508000" y="2108200"/>
            <a:ext cx="50800" cy="330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6C6055-67E2-58F3-B600-43BBC05E278F}"/>
              </a:ext>
            </a:extLst>
          </p:cNvPr>
          <p:cNvSpPr txBox="1"/>
          <p:nvPr/>
        </p:nvSpPr>
        <p:spPr>
          <a:xfrm>
            <a:off x="711200" y="21590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Individual Report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3C7947-39AA-A8E7-F78B-4E3FF82C6B99}"/>
              </a:ext>
            </a:extLst>
          </p:cNvPr>
          <p:cNvSpPr txBox="1"/>
          <p:nvPr/>
        </p:nvSpPr>
        <p:spPr>
          <a:xfrm>
            <a:off x="711200" y="25146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Performance Metrics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5DDE82-A355-8C54-CCD5-B0B8B70B7B1A}"/>
              </a:ext>
            </a:extLst>
          </p:cNvPr>
          <p:cNvSpPr txBox="1"/>
          <p:nvPr/>
        </p:nvSpPr>
        <p:spPr>
          <a:xfrm>
            <a:off x="711200" y="28702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Manager Overview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61CAE1-18C0-9227-B226-ED880DF50067}"/>
              </a:ext>
            </a:extLst>
          </p:cNvPr>
          <p:cNvSpPr txBox="1"/>
          <p:nvPr/>
        </p:nvSpPr>
        <p:spPr>
          <a:xfrm>
            <a:off x="711200" y="32258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Analytics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0FAB55-620A-DA0A-03B6-813742EF51C8}"/>
              </a:ext>
            </a:extLst>
          </p:cNvPr>
          <p:cNvSpPr txBox="1"/>
          <p:nvPr/>
        </p:nvSpPr>
        <p:spPr>
          <a:xfrm>
            <a:off x="711200" y="3581400"/>
            <a:ext cx="1651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AABED2"/>
                </a:solidFill>
                <a:latin typeface="Segoe UI" panose="020B0502040204020203" pitchFamily="34" charset="0"/>
              </a:rPr>
              <a:t>Assistant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E9CCC50-0AE0-F95F-0CF2-18AECF765187}"/>
              </a:ext>
            </a:extLst>
          </p:cNvPr>
          <p:cNvSpPr/>
          <p:nvPr/>
        </p:nvSpPr>
        <p:spPr>
          <a:xfrm>
            <a:off x="2616200" y="1701800"/>
            <a:ext cx="56896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78A4DE-0B5F-7BAF-160B-BD551D3CFB1E}"/>
              </a:ext>
            </a:extLst>
          </p:cNvPr>
          <p:cNvSpPr txBox="1"/>
          <p:nvPr/>
        </p:nvSpPr>
        <p:spPr>
          <a:xfrm>
            <a:off x="2819400" y="1854200"/>
            <a:ext cx="3556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122648"/>
                </a:solidFill>
                <a:latin typeface="Segoe UI" panose="020B0502040204020203" pitchFamily="34" charset="0"/>
              </a:rPr>
              <a:t>Jordan M.  .  PSO - VZ Mobile Service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452178-C545-B18D-569E-9E3A57ECB86B}"/>
              </a:ext>
            </a:extLst>
          </p:cNvPr>
          <p:cNvSpPr txBox="1"/>
          <p:nvPr/>
        </p:nvSpPr>
        <p:spPr>
          <a:xfrm>
            <a:off x="2819400" y="2184400"/>
            <a:ext cx="3556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606A7A"/>
                </a:solidFill>
                <a:latin typeface="Segoe UI" panose="020B0502040204020203" pitchFamily="34" charset="0"/>
              </a:rPr>
              <a:t>Week of 2026-08-16  .  142 calls analyzed</a:t>
            </a:r>
            <a:endParaRPr lang="en-IN" sz="1000">
              <a:solidFill>
                <a:srgbClr val="606A7A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639F83-F35C-FCF0-8AA8-3A555940FFD3}"/>
              </a:ext>
            </a:extLst>
          </p:cNvPr>
          <p:cNvSpPr/>
          <p:nvPr/>
        </p:nvSpPr>
        <p:spPr>
          <a:xfrm>
            <a:off x="7188200" y="1803400"/>
            <a:ext cx="685800" cy="685800"/>
          </a:xfrm>
          <a:prstGeom prst="ellipse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82</a:t>
            </a:r>
          </a:p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Strong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6EFE28C-B67E-B3FD-1C10-235C91681DA2}"/>
              </a:ext>
            </a:extLst>
          </p:cNvPr>
          <p:cNvSpPr/>
          <p:nvPr/>
        </p:nvSpPr>
        <p:spPr>
          <a:xfrm>
            <a:off x="2616200" y="2743200"/>
            <a:ext cx="3683000" cy="1905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701CD0-BE46-47CF-A7A9-935EC0311322}"/>
              </a:ext>
            </a:extLst>
          </p:cNvPr>
          <p:cNvSpPr txBox="1"/>
          <p:nvPr/>
        </p:nvSpPr>
        <p:spPr>
          <a:xfrm>
            <a:off x="2794000" y="2844800"/>
            <a:ext cx="3302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 b="1">
                <a:solidFill>
                  <a:srgbClr val="122648"/>
                </a:solidFill>
                <a:latin typeface="Segoe UI" panose="020B0502040204020203" pitchFamily="34" charset="0"/>
              </a:rPr>
              <a:t>Behaviour scores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F8B5A1-91BE-B3F8-7341-36A14B62F0C7}"/>
              </a:ext>
            </a:extLst>
          </p:cNvPr>
          <p:cNvSpPr txBox="1"/>
          <p:nvPr/>
        </p:nvSpPr>
        <p:spPr>
          <a:xfrm>
            <a:off x="2794000" y="3124200"/>
            <a:ext cx="19050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800">
                <a:solidFill>
                  <a:srgbClr val="262B34"/>
                </a:solidFill>
                <a:latin typeface="Segoe UI" panose="020B0502040204020203" pitchFamily="34" charset="0"/>
              </a:rPr>
              <a:t>Active Listening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D09B93-6BE5-FA2D-8040-D22C7CFFB971}"/>
              </a:ext>
            </a:extLst>
          </p:cNvPr>
          <p:cNvSpPr/>
          <p:nvPr/>
        </p:nvSpPr>
        <p:spPr>
          <a:xfrm>
            <a:off x="4521200" y="3162300"/>
            <a:ext cx="1524000" cy="101600"/>
          </a:xfrm>
          <a:prstGeom prst="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6B946A-D25C-CF36-581B-66490E2BA39D}"/>
              </a:ext>
            </a:extLst>
          </p:cNvPr>
          <p:cNvSpPr/>
          <p:nvPr/>
        </p:nvSpPr>
        <p:spPr>
          <a:xfrm>
            <a:off x="4521200" y="3162300"/>
            <a:ext cx="1371600" cy="101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55C5DC-712C-6C6F-3F36-4DED84E44742}"/>
              </a:ext>
            </a:extLst>
          </p:cNvPr>
          <p:cNvSpPr txBox="1"/>
          <p:nvPr/>
        </p:nvSpPr>
        <p:spPr>
          <a:xfrm>
            <a:off x="2794000" y="3403600"/>
            <a:ext cx="19050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800">
                <a:solidFill>
                  <a:srgbClr val="262B34"/>
                </a:solidFill>
                <a:latin typeface="Segoe UI" panose="020B0502040204020203" pitchFamily="34" charset="0"/>
              </a:rPr>
              <a:t>Empathy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947808-E377-1EFF-A0EF-262383EDCFB7}"/>
              </a:ext>
            </a:extLst>
          </p:cNvPr>
          <p:cNvSpPr/>
          <p:nvPr/>
        </p:nvSpPr>
        <p:spPr>
          <a:xfrm>
            <a:off x="4521200" y="3441700"/>
            <a:ext cx="1524000" cy="101600"/>
          </a:xfrm>
          <a:prstGeom prst="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A814A6A-1DB2-0456-3959-72C0E4DC4F74}"/>
              </a:ext>
            </a:extLst>
          </p:cNvPr>
          <p:cNvSpPr/>
          <p:nvPr/>
        </p:nvSpPr>
        <p:spPr>
          <a:xfrm>
            <a:off x="4521200" y="3441700"/>
            <a:ext cx="1193800" cy="101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0D00C3-5E87-63E4-056A-D578D385FD5E}"/>
              </a:ext>
            </a:extLst>
          </p:cNvPr>
          <p:cNvSpPr txBox="1"/>
          <p:nvPr/>
        </p:nvSpPr>
        <p:spPr>
          <a:xfrm>
            <a:off x="2794000" y="3683000"/>
            <a:ext cx="19050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800">
                <a:solidFill>
                  <a:srgbClr val="262B34"/>
                </a:solidFill>
                <a:latin typeface="Segoe UI" panose="020B0502040204020203" pitchFamily="34" charset="0"/>
              </a:rPr>
              <a:t>Ownership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179F1E-A2E8-8937-F912-8D2A99448A93}"/>
              </a:ext>
            </a:extLst>
          </p:cNvPr>
          <p:cNvSpPr/>
          <p:nvPr/>
        </p:nvSpPr>
        <p:spPr>
          <a:xfrm>
            <a:off x="4521200" y="3721100"/>
            <a:ext cx="1524000" cy="101600"/>
          </a:xfrm>
          <a:prstGeom prst="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2C158E-7B3A-F1FE-383F-B79A88DA1E90}"/>
              </a:ext>
            </a:extLst>
          </p:cNvPr>
          <p:cNvSpPr/>
          <p:nvPr/>
        </p:nvSpPr>
        <p:spPr>
          <a:xfrm>
            <a:off x="4521200" y="3721100"/>
            <a:ext cx="1295400" cy="101600"/>
          </a:xfrm>
          <a:prstGeom prst="rect">
            <a:avLst/>
          </a:prstGeom>
          <a:solidFill>
            <a:srgbClr val="16A0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9562F7-AC99-9249-48C2-0E23712C5E8F}"/>
              </a:ext>
            </a:extLst>
          </p:cNvPr>
          <p:cNvSpPr txBox="1"/>
          <p:nvPr/>
        </p:nvSpPr>
        <p:spPr>
          <a:xfrm>
            <a:off x="2794000" y="3962400"/>
            <a:ext cx="19050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800">
                <a:solidFill>
                  <a:srgbClr val="262B34"/>
                </a:solidFill>
                <a:latin typeface="Segoe UI" panose="020B0502040204020203" pitchFamily="34" charset="0"/>
              </a:rPr>
              <a:t>Issue Investigation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BB7CCE-FD2E-D81E-8AC0-AC83076B616B}"/>
              </a:ext>
            </a:extLst>
          </p:cNvPr>
          <p:cNvSpPr/>
          <p:nvPr/>
        </p:nvSpPr>
        <p:spPr>
          <a:xfrm>
            <a:off x="4521200" y="4000500"/>
            <a:ext cx="1524000" cy="101600"/>
          </a:xfrm>
          <a:prstGeom prst="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0F82BA-F2B3-B1B3-4338-1B0069ED58BC}"/>
              </a:ext>
            </a:extLst>
          </p:cNvPr>
          <p:cNvSpPr/>
          <p:nvPr/>
        </p:nvSpPr>
        <p:spPr>
          <a:xfrm>
            <a:off x="4521200" y="4000500"/>
            <a:ext cx="914400" cy="1016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39D6C7-B9D0-5915-81A5-6EAD06D14539}"/>
              </a:ext>
            </a:extLst>
          </p:cNvPr>
          <p:cNvSpPr txBox="1"/>
          <p:nvPr/>
        </p:nvSpPr>
        <p:spPr>
          <a:xfrm>
            <a:off x="2794000" y="4241800"/>
            <a:ext cx="19050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800">
                <a:solidFill>
                  <a:srgbClr val="262B34"/>
                </a:solidFill>
                <a:latin typeface="Segoe UI" panose="020B0502040204020203" pitchFamily="34" charset="0"/>
              </a:rPr>
              <a:t>Resolution Verify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918169-775D-AA2D-206C-BE2385A784BF}"/>
              </a:ext>
            </a:extLst>
          </p:cNvPr>
          <p:cNvSpPr/>
          <p:nvPr/>
        </p:nvSpPr>
        <p:spPr>
          <a:xfrm>
            <a:off x="4521200" y="4279900"/>
            <a:ext cx="1524000" cy="101600"/>
          </a:xfrm>
          <a:prstGeom prst="rect">
            <a:avLst/>
          </a:prstGeom>
          <a:solidFill>
            <a:srgbClr val="F0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207136-F73F-5C98-EA7A-B1078F1DCACC}"/>
              </a:ext>
            </a:extLst>
          </p:cNvPr>
          <p:cNvSpPr/>
          <p:nvPr/>
        </p:nvSpPr>
        <p:spPr>
          <a:xfrm>
            <a:off x="4521200" y="4279900"/>
            <a:ext cx="1092200" cy="101600"/>
          </a:xfrm>
          <a:prstGeom prst="rect">
            <a:avLst/>
          </a:prstGeom>
          <a:solidFill>
            <a:srgbClr val="CD87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95AE35F-D6CC-3DDD-A866-85D4D7175A69}"/>
              </a:ext>
            </a:extLst>
          </p:cNvPr>
          <p:cNvSpPr/>
          <p:nvPr/>
        </p:nvSpPr>
        <p:spPr>
          <a:xfrm>
            <a:off x="6426200" y="2743200"/>
            <a:ext cx="1879600" cy="584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0E3C1F-D455-76E4-A6D2-575B1A9B3EF7}"/>
              </a:ext>
            </a:extLst>
          </p:cNvPr>
          <p:cNvSpPr txBox="1"/>
          <p:nvPr/>
        </p:nvSpPr>
        <p:spPr>
          <a:xfrm>
            <a:off x="6578600" y="2819400"/>
            <a:ext cx="1574800" cy="27186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600" b="1">
                <a:solidFill>
                  <a:srgbClr val="16A078"/>
                </a:solidFill>
                <a:latin typeface="Segoe UI" panose="020B0502040204020203" pitchFamily="34" charset="0"/>
              </a:rPr>
              <a:t>0.74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5E4264-6247-9FB2-EE37-D036E1B539CB}"/>
              </a:ext>
            </a:extLst>
          </p:cNvPr>
          <p:cNvSpPr txBox="1"/>
          <p:nvPr/>
        </p:nvSpPr>
        <p:spPr>
          <a:xfrm>
            <a:off x="6578600" y="3098800"/>
            <a:ext cx="15748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800">
                <a:solidFill>
                  <a:srgbClr val="606A7A"/>
                </a:solidFill>
                <a:latin typeface="Segoe UI" panose="020B0502040204020203" pitchFamily="34" charset="0"/>
              </a:rPr>
              <a:t>FCR likelihood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23CB5A9-3422-8C95-39F5-5D78655087B6}"/>
              </a:ext>
            </a:extLst>
          </p:cNvPr>
          <p:cNvSpPr/>
          <p:nvPr/>
        </p:nvSpPr>
        <p:spPr>
          <a:xfrm>
            <a:off x="6426200" y="3403600"/>
            <a:ext cx="1879600" cy="584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0CC088-A2FE-9B66-6FDF-7EF4500DF19E}"/>
              </a:ext>
            </a:extLst>
          </p:cNvPr>
          <p:cNvSpPr txBox="1"/>
          <p:nvPr/>
        </p:nvSpPr>
        <p:spPr>
          <a:xfrm>
            <a:off x="6578600" y="3479800"/>
            <a:ext cx="1574800" cy="27186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600" b="1">
                <a:solidFill>
                  <a:srgbClr val="2A76BE"/>
                </a:solidFill>
                <a:latin typeface="Segoe UI" panose="020B0502040204020203" pitchFamily="34" charset="0"/>
              </a:rPr>
              <a:t>4.3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7E3F28-4834-6BD6-BBB1-78DF65E36E39}"/>
              </a:ext>
            </a:extLst>
          </p:cNvPr>
          <p:cNvSpPr txBox="1"/>
          <p:nvPr/>
        </p:nvSpPr>
        <p:spPr>
          <a:xfrm>
            <a:off x="6578600" y="3759200"/>
            <a:ext cx="15748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800">
                <a:solidFill>
                  <a:srgbClr val="606A7A"/>
                </a:solidFill>
                <a:latin typeface="Segoe UI" panose="020B0502040204020203" pitchFamily="34" charset="0"/>
              </a:rPr>
              <a:t>Predicted CSAT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753A61B-3E08-973C-07E1-FAC640370B81}"/>
              </a:ext>
            </a:extLst>
          </p:cNvPr>
          <p:cNvSpPr/>
          <p:nvPr/>
        </p:nvSpPr>
        <p:spPr>
          <a:xfrm>
            <a:off x="6426200" y="4064000"/>
            <a:ext cx="1879600" cy="584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B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753F42-27DD-3B31-79AF-6F9FFDD4244D}"/>
              </a:ext>
            </a:extLst>
          </p:cNvPr>
          <p:cNvSpPr txBox="1"/>
          <p:nvPr/>
        </p:nvSpPr>
        <p:spPr>
          <a:xfrm>
            <a:off x="6578600" y="4140200"/>
            <a:ext cx="1574800" cy="27186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600" b="1">
                <a:solidFill>
                  <a:srgbClr val="CD8712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716A5A-84DE-5151-63AD-6B2BEFD5E590}"/>
              </a:ext>
            </a:extLst>
          </p:cNvPr>
          <p:cNvSpPr txBox="1"/>
          <p:nvPr/>
        </p:nvSpPr>
        <p:spPr>
          <a:xfrm>
            <a:off x="6578600" y="4419600"/>
            <a:ext cx="15748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800">
                <a:solidFill>
                  <a:srgbClr val="606A7A"/>
                </a:solidFill>
                <a:latin typeface="Segoe UI" panose="020B0502040204020203" pitchFamily="34" charset="0"/>
              </a:rPr>
              <a:t>Escalations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55EC663-5E30-5569-12A8-75B70EBF5C53}"/>
              </a:ext>
            </a:extLst>
          </p:cNvPr>
          <p:cNvSpPr/>
          <p:nvPr/>
        </p:nvSpPr>
        <p:spPr>
          <a:xfrm>
            <a:off x="2616200" y="4749800"/>
            <a:ext cx="5689600" cy="558800"/>
          </a:xfrm>
          <a:prstGeom prst="roundRect">
            <a:avLst/>
          </a:prstGeom>
          <a:solidFill>
            <a:srgbClr val="EDF4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F605FE5-00CD-9DDE-D321-A14E06D9A364}"/>
              </a:ext>
            </a:extLst>
          </p:cNvPr>
          <p:cNvSpPr/>
          <p:nvPr/>
        </p:nvSpPr>
        <p:spPr>
          <a:xfrm>
            <a:off x="2616200" y="4749800"/>
            <a:ext cx="63500" cy="558800"/>
          </a:xfrm>
          <a:prstGeom prst="rect">
            <a:avLst/>
          </a:prstGeom>
          <a:solidFill>
            <a:srgbClr val="8E5CB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942BF2-8DCB-7888-1FF6-5C8A963EDDD7}"/>
              </a:ext>
            </a:extLst>
          </p:cNvPr>
          <p:cNvSpPr txBox="1"/>
          <p:nvPr/>
        </p:nvSpPr>
        <p:spPr>
          <a:xfrm>
            <a:off x="2794000" y="4800600"/>
            <a:ext cx="5461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 b="1">
                <a:solidFill>
                  <a:srgbClr val="8E5CB2"/>
                </a:solidFill>
                <a:latin typeface="Segoe UI" panose="020B0502040204020203" pitchFamily="34" charset="0"/>
              </a:rPr>
              <a:t>AI coaching tip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289FDB-7E68-7D94-8ABC-FD6D069D64AF}"/>
              </a:ext>
            </a:extLst>
          </p:cNvPr>
          <p:cNvSpPr txBox="1"/>
          <p:nvPr/>
        </p:nvSpPr>
        <p:spPr>
          <a:xfrm>
            <a:off x="2794000" y="4991100"/>
            <a:ext cx="54610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262B34"/>
                </a:solidFill>
                <a:latin typeface="Segoe UI" panose="020B0502040204020203" pitchFamily="34" charset="0"/>
              </a:rPr>
              <a:t>Probe for the underlying issue earlier - investigation scored 0.60. See calls #12, #27.</a:t>
            </a:r>
            <a:endParaRPr lang="en-IN" sz="900">
              <a:solidFill>
                <a:srgbClr val="262B3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973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188BA7-CE76-0704-36BB-560E4B93B1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D0423C-4F4A-8E8B-30D4-2F847CC983A9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27FFC-D088-B148-9384-135FFD822296}"/>
              </a:ext>
            </a:extLst>
          </p:cNvPr>
          <p:cNvSpPr/>
          <p:nvPr/>
        </p:nvSpPr>
        <p:spPr>
          <a:xfrm>
            <a:off x="9652000" y="4318000"/>
            <a:ext cx="4064000" cy="4064000"/>
          </a:xfrm>
          <a:prstGeom prst="ellipse">
            <a:avLst/>
          </a:prstGeom>
          <a:solidFill>
            <a:srgbClr val="1C37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B487B9-8B8A-9BF6-22FF-AC17047C011F}"/>
              </a:ext>
            </a:extLst>
          </p:cNvPr>
          <p:cNvSpPr txBox="1"/>
          <p:nvPr/>
        </p:nvSpPr>
        <p:spPr>
          <a:xfrm>
            <a:off x="889000" y="1270000"/>
            <a:ext cx="9906000" cy="518091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Key Takeaways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02252-5DC1-13E7-8213-8DC93ADE7469}"/>
              </a:ext>
            </a:extLst>
          </p:cNvPr>
          <p:cNvSpPr/>
          <p:nvPr/>
        </p:nvSpPr>
        <p:spPr>
          <a:xfrm>
            <a:off x="939800" y="1981200"/>
            <a:ext cx="1524000" cy="38100"/>
          </a:xfrm>
          <a:prstGeom prst="rect">
            <a:avLst/>
          </a:prstGeom>
          <a:solidFill>
            <a:srgbClr val="009E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283A64-10AD-6DD1-1AD7-15D32503EA25}"/>
              </a:ext>
            </a:extLst>
          </p:cNvPr>
          <p:cNvSpPr txBox="1"/>
          <p:nvPr/>
        </p:nvSpPr>
        <p:spPr>
          <a:xfrm>
            <a:off x="939800" y="2260600"/>
            <a:ext cx="9652000" cy="231088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1300"/>
              </a:spcAft>
              <a:buFont typeface="+mj-lt"/>
              <a:buChar char="•"/>
            </a:pPr>
            <a:r>
              <a:rPr lang="en-US" sz="1500">
                <a:solidFill>
                  <a:srgbClr val="DCE6F0"/>
                </a:solidFill>
                <a:latin typeface="Segoe UI" panose="020B0502040204020203" pitchFamily="34" charset="0"/>
              </a:rPr>
              <a:t>LLMOps is the foundation - Phase 1 stands up all 8 capabilities before scale</a:t>
            </a:r>
          </a:p>
          <a:p>
            <a:pPr marL="342900" indent="-342900">
              <a:spcAft>
                <a:spcPts val="1300"/>
              </a:spcAft>
              <a:buFont typeface="+mj-lt"/>
              <a:buChar char="•"/>
            </a:pPr>
            <a:r>
              <a:rPr lang="en-US" sz="1500">
                <a:solidFill>
                  <a:srgbClr val="DCE6F0"/>
                </a:solidFill>
                <a:latin typeface="Segoe UI" panose="020B0502040204020203" pitchFamily="34" charset="0"/>
              </a:rPr>
              <a:t>Every capability has a concrete APIX design decision behind it</a:t>
            </a:r>
          </a:p>
          <a:p>
            <a:pPr marL="342900" indent="-342900">
              <a:spcAft>
                <a:spcPts val="1300"/>
              </a:spcAft>
              <a:buFont typeface="+mj-lt"/>
              <a:buChar char="•"/>
            </a:pPr>
            <a:r>
              <a:rPr lang="en-US" sz="1500">
                <a:solidFill>
                  <a:srgbClr val="DCE6F0"/>
                </a:solidFill>
                <a:latin typeface="Segoe UI" panose="020B0502040204020203" pitchFamily="34" charset="0"/>
              </a:rPr>
              <a:t>APIX is real and sized: 4 programs, gpt-5-nano, ~$2,735/mo at 100k calls/day</a:t>
            </a:r>
          </a:p>
          <a:p>
            <a:pPr marL="342900" indent="-342900">
              <a:spcAft>
                <a:spcPts val="1300"/>
              </a:spcAft>
              <a:buFont typeface="+mj-lt"/>
              <a:buChar char="•"/>
            </a:pPr>
            <a:r>
              <a:rPr lang="en-US" sz="1500">
                <a:solidFill>
                  <a:srgbClr val="DCE6F0"/>
                </a:solidFill>
                <a:latin typeface="Segoe UI" panose="020B0502040204020203" pitchFamily="34" charset="0"/>
              </a:rPr>
              <a:t>Stay Azure-native: Foundry, AI Search, Azure OpenAI - governed and in-boundary</a:t>
            </a:r>
          </a:p>
          <a:p>
            <a:pPr marL="342900" indent="-342900">
              <a:spcAft>
                <a:spcPts val="1300"/>
              </a:spcAft>
              <a:buFont typeface="+mj-lt"/>
              <a:buChar char="•"/>
            </a:pPr>
            <a:r>
              <a:rPr lang="en-US" sz="1500">
                <a:solidFill>
                  <a:srgbClr val="DCE6F0"/>
                </a:solidFill>
                <a:latin typeface="Segoe UI" panose="020B0502040204020203" pitchFamily="34" charset="0"/>
              </a:rPr>
              <a:t>Patterns serve the problem: orchestrated tasks for the pipeline, Agent for the chatbot</a:t>
            </a:r>
          </a:p>
          <a:p>
            <a:pPr marL="342900" indent="-342900">
              <a:spcAft>
                <a:spcPts val="1300"/>
              </a:spcAft>
              <a:buFont typeface="+mj-lt"/>
              <a:buChar char="•"/>
            </a:pPr>
            <a:r>
              <a:rPr lang="en-US" sz="1500">
                <a:solidFill>
                  <a:srgbClr val="DCE6F0"/>
                </a:solidFill>
                <a:latin typeface="Segoe UI" panose="020B0502040204020203" pitchFamily="34" charset="0"/>
              </a:rPr>
              <a:t>Decisions to close: registry store, PII policy (D-1), golden-data ownership (D-3), advisory vs approval (D-4)</a:t>
            </a:r>
            <a:endParaRPr lang="en-IN" sz="1500">
              <a:solidFill>
                <a:srgbClr val="DCE6F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09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3400</Words>
  <Application>Microsoft Office PowerPoint</Application>
  <PresentationFormat>Letter Paper (8.5x11 in)</PresentationFormat>
  <Paragraphs>604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Shyam Kumar Reddy Anugu</dc:creator>
  <cp:lastModifiedBy>Shyam Kumar Reddy Anugu</cp:lastModifiedBy>
  <cp:revision>2</cp:revision>
  <dcterms:created xsi:type="dcterms:W3CDTF">2026-10-06T08:45:55Z</dcterms:created>
  <dcterms:modified xsi:type="dcterms:W3CDTF">2026-10-08T08:13:57Z</dcterms:modified>
</cp:coreProperties>
</file>